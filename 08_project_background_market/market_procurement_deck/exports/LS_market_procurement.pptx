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3"/>
  </p:sldMasterIdLst>
  <p:sldIdLst>
    <p:sldId id="256" r:id="rId1"/>
    <p:sldId id="257" r:id="rId2"/>
  </p:sldIdLst>
  <p:sldSz cx="12192000" cy="6858000" type="screen16x9"/>
  <p:notesSz cx="6858000" cy="9144000"/>
</p:presentation>
</file>

<file path=ppt/_rels/presentation.xml.rels><?xml version="1.0" encoding="UTF-8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Master" Target="slideMasters/slideMaster1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Object 3"/>
          <p:cNvSpPr/>
          <p:nvPr/>
        </p:nvSpPr>
        <p:spPr>
          <a:xfrm>
            <a:off x="487680" y="419100"/>
            <a:ext cx="60960" cy="342900"/>
          </a:xfrm>
          <a:prstGeom prst="rect">
            <a:avLst/>
          </a:prstGeom>
          <a:solidFill>
            <a:srgbClr val="2166A5"/>
          </a:solidFill>
          <a:ln>
            <a:noFill/>
          </a:ln>
        </p:spPr>
      </p:sp>
      <p:sp>
        <p:nvSpPr>
          <p:cNvPr id="4" name="Object 4"/>
          <p:cNvSpPr txBox="1"/>
          <p:nvPr/>
        </p:nvSpPr>
        <p:spPr>
          <a:xfrm>
            <a:off x="701040" y="365760"/>
            <a:ext cx="10972800" cy="472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28000"/>
              </a:lnSpc>
              <a:spcAft>
                <a:spcPts val="0"/>
              </a:spcAft>
            </a:pPr>
            <a:r>
              <a:rPr lang="zh-CN" sz="2280" b="1">
                <a:solidFill>
                  <a:srgbClr val="15324F"/>
                </a:solidFill>
                <a:latin typeface="Microsoft YaHei"/>
                <a:ea typeface="Microsoft YaHei"/>
              </a:rPr>
              <a:t>LS 需求随光刻整机产生，价值在系统集成与准入</a:t>
            </a:r>
            <a:endParaRPr lang="zh-CN"/>
          </a:p>
        </p:txBody>
      </p:sp>
      <p:sp>
        <p:nvSpPr>
          <p:cNvPr id="5" name="Object 5"/>
          <p:cNvSpPr txBox="1"/>
          <p:nvPr/>
        </p:nvSpPr>
        <p:spPr>
          <a:xfrm>
            <a:off x="487680" y="906780"/>
            <a:ext cx="11216640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28000"/>
              </a:lnSpc>
              <a:spcAft>
                <a:spcPts val="0"/>
              </a:spcAft>
            </a:pPr>
            <a:r>
              <a:rPr lang="zh-CN" sz="1440" b="0">
                <a:solidFill>
                  <a:srgbClr val="586B7A"/>
                </a:solidFill>
                <a:latin typeface="Microsoft YaHei"/>
                <a:ea typeface="Microsoft YaHei"/>
              </a:rPr>
              <a:t>商业机会由光刻设备需求、整机集成能力和客户验证共同决定。</a:t>
            </a:r>
            <a:endParaRPr lang="zh-CN"/>
          </a:p>
        </p:txBody>
      </p:sp>
      <p:sp>
        <p:nvSpPr>
          <p:cNvPr id="6" name="Object 6"/>
          <p:cNvSpPr txBox="1"/>
          <p:nvPr/>
        </p:nvSpPr>
        <p:spPr>
          <a:xfrm>
            <a:off x="11201400" y="6469380"/>
            <a:ext cx="49530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28000"/>
              </a:lnSpc>
              <a:spcAft>
                <a:spcPts val="0"/>
              </a:spcAft>
            </a:pPr>
            <a:r>
              <a:rPr lang="zh-CN" sz="1080" b="0">
                <a:solidFill>
                  <a:srgbClr val="586B7A"/>
                </a:solidFill>
                <a:latin typeface="Microsoft YaHei"/>
                <a:ea typeface="Microsoft YaHei"/>
              </a:rPr>
              <a:t>01</a:t>
            </a:r>
            <a:endParaRPr lang="zh-CN"/>
          </a:p>
        </p:txBody>
      </p:sp>
      <p:sp>
        <p:nvSpPr>
          <p:cNvPr id="7" name="Object 7"/>
          <p:cNvSpPr txBox="1"/>
          <p:nvPr/>
        </p:nvSpPr>
        <p:spPr>
          <a:xfrm>
            <a:off x="487680" y="1455420"/>
            <a:ext cx="381000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28000"/>
              </a:lnSpc>
              <a:spcAft>
                <a:spcPts val="0"/>
              </a:spcAft>
            </a:pPr>
            <a:r>
              <a:rPr lang="zh-CN" sz="1560" b="1">
                <a:solidFill>
                  <a:srgbClr val="15324F"/>
                </a:solidFill>
                <a:latin typeface="Microsoft YaHei"/>
                <a:ea typeface="Microsoft YaHei"/>
              </a:rPr>
              <a:t>需求传导</a:t>
            </a:r>
            <a:endParaRPr lang="zh-CN"/>
          </a:p>
        </p:txBody>
      </p:sp>
      <p:sp>
        <p:nvSpPr>
          <p:cNvPr id="8" name="Object 8"/>
          <p:cNvSpPr/>
          <p:nvPr/>
        </p:nvSpPr>
        <p:spPr>
          <a:xfrm>
            <a:off x="487680" y="1836420"/>
            <a:ext cx="2575560" cy="502920"/>
          </a:xfrm>
          <a:prstGeom prst="rect">
            <a:avLst/>
          </a:prstGeom>
          <a:solidFill>
            <a:srgbClr val="F2F5F8"/>
          </a:solidFill>
          <a:ln>
            <a:noFill/>
          </a:ln>
        </p:spPr>
      </p:sp>
      <p:sp>
        <p:nvSpPr>
          <p:cNvPr id="9" name="Object 9"/>
          <p:cNvSpPr txBox="1"/>
          <p:nvPr/>
        </p:nvSpPr>
        <p:spPr>
          <a:xfrm>
            <a:off x="609600" y="1958340"/>
            <a:ext cx="2346960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28000"/>
              </a:lnSpc>
              <a:spcAft>
                <a:spcPts val="0"/>
              </a:spcAft>
            </a:pPr>
            <a:r>
              <a:rPr lang="zh-CN" sz="1500" b="1">
                <a:solidFill>
                  <a:srgbClr val="15324F"/>
                </a:solidFill>
                <a:latin typeface="Microsoft YaHei"/>
                <a:ea typeface="Microsoft YaHei"/>
              </a:rPr>
              <a:t>半导体制造需求</a:t>
            </a:r>
            <a:endParaRPr lang="zh-CN"/>
          </a:p>
        </p:txBody>
      </p:sp>
      <p:sp>
        <p:nvSpPr>
          <p:cNvPr id="10" name="Object 10"/>
          <p:cNvSpPr txBox="1"/>
          <p:nvPr/>
        </p:nvSpPr>
        <p:spPr>
          <a:xfrm>
            <a:off x="3116580" y="1958340"/>
            <a:ext cx="213360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28000"/>
              </a:lnSpc>
              <a:spcAft>
                <a:spcPts val="0"/>
              </a:spcAft>
            </a:pPr>
            <a:r>
              <a:rPr lang="zh-CN" sz="1560" b="0">
                <a:solidFill>
                  <a:srgbClr val="2166A5"/>
                </a:solidFill>
                <a:latin typeface="Microsoft YaHei"/>
                <a:ea typeface="Microsoft YaHei"/>
              </a:rPr>
              <a:t>→</a:t>
            </a:r>
            <a:endParaRPr lang="zh-CN"/>
          </a:p>
        </p:txBody>
      </p:sp>
      <p:sp>
        <p:nvSpPr>
          <p:cNvPr id="11" name="Object 11"/>
          <p:cNvSpPr/>
          <p:nvPr/>
        </p:nvSpPr>
        <p:spPr>
          <a:xfrm>
            <a:off x="3368040" y="1836420"/>
            <a:ext cx="2575560" cy="502920"/>
          </a:xfrm>
          <a:prstGeom prst="rect">
            <a:avLst/>
          </a:prstGeom>
          <a:solidFill>
            <a:srgbClr val="F2F5F8"/>
          </a:solidFill>
          <a:ln>
            <a:noFill/>
          </a:ln>
        </p:spPr>
      </p:sp>
      <p:sp>
        <p:nvSpPr>
          <p:cNvPr id="12" name="Object 12"/>
          <p:cNvSpPr txBox="1"/>
          <p:nvPr/>
        </p:nvSpPr>
        <p:spPr>
          <a:xfrm>
            <a:off x="3489960" y="1958340"/>
            <a:ext cx="2346960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28000"/>
              </a:lnSpc>
              <a:spcAft>
                <a:spcPts val="0"/>
              </a:spcAft>
            </a:pPr>
            <a:r>
              <a:rPr lang="zh-CN" sz="1500" b="1">
                <a:solidFill>
                  <a:srgbClr val="15324F"/>
                </a:solidFill>
                <a:latin typeface="Microsoft YaHei"/>
                <a:ea typeface="Microsoft YaHei"/>
              </a:rPr>
              <a:t>晶圆厂设备投资</a:t>
            </a:r>
            <a:endParaRPr lang="zh-CN"/>
          </a:p>
        </p:txBody>
      </p:sp>
      <p:sp>
        <p:nvSpPr>
          <p:cNvPr id="13" name="Object 13"/>
          <p:cNvSpPr txBox="1"/>
          <p:nvPr/>
        </p:nvSpPr>
        <p:spPr>
          <a:xfrm>
            <a:off x="5996940" y="1958340"/>
            <a:ext cx="213360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28000"/>
              </a:lnSpc>
              <a:spcAft>
                <a:spcPts val="0"/>
              </a:spcAft>
            </a:pPr>
            <a:r>
              <a:rPr lang="zh-CN" sz="1560" b="0">
                <a:solidFill>
                  <a:srgbClr val="2166A5"/>
                </a:solidFill>
                <a:latin typeface="Microsoft YaHei"/>
                <a:ea typeface="Microsoft YaHei"/>
              </a:rPr>
              <a:t>→</a:t>
            </a:r>
            <a:endParaRPr lang="zh-CN"/>
          </a:p>
        </p:txBody>
      </p:sp>
      <p:sp>
        <p:nvSpPr>
          <p:cNvPr id="14" name="Object 14"/>
          <p:cNvSpPr/>
          <p:nvPr/>
        </p:nvSpPr>
        <p:spPr>
          <a:xfrm>
            <a:off x="6248400" y="1836420"/>
            <a:ext cx="2575560" cy="502920"/>
          </a:xfrm>
          <a:prstGeom prst="rect">
            <a:avLst/>
          </a:prstGeom>
          <a:solidFill>
            <a:srgbClr val="F2F5F8"/>
          </a:solidFill>
          <a:ln>
            <a:noFill/>
          </a:ln>
        </p:spPr>
      </p:sp>
      <p:sp>
        <p:nvSpPr>
          <p:cNvPr id="15" name="Object 15"/>
          <p:cNvSpPr txBox="1"/>
          <p:nvPr/>
        </p:nvSpPr>
        <p:spPr>
          <a:xfrm>
            <a:off x="6370320" y="1958340"/>
            <a:ext cx="2346960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28000"/>
              </a:lnSpc>
              <a:spcAft>
                <a:spcPts val="0"/>
              </a:spcAft>
            </a:pPr>
            <a:r>
              <a:rPr lang="zh-CN" sz="1500" b="1">
                <a:solidFill>
                  <a:srgbClr val="15324F"/>
                </a:solidFill>
                <a:latin typeface="Microsoft YaHei"/>
                <a:ea typeface="Microsoft YaHei"/>
              </a:rPr>
              <a:t>光刻设备采购 / 升级</a:t>
            </a:r>
            <a:endParaRPr lang="zh-CN"/>
          </a:p>
        </p:txBody>
      </p:sp>
      <p:sp>
        <p:nvSpPr>
          <p:cNvPr id="16" name="Object 16"/>
          <p:cNvSpPr txBox="1"/>
          <p:nvPr/>
        </p:nvSpPr>
        <p:spPr>
          <a:xfrm>
            <a:off x="8877300" y="1958340"/>
            <a:ext cx="213360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28000"/>
              </a:lnSpc>
              <a:spcAft>
                <a:spcPts val="0"/>
              </a:spcAft>
            </a:pPr>
            <a:r>
              <a:rPr lang="zh-CN" sz="1560" b="0">
                <a:solidFill>
                  <a:srgbClr val="2166A5"/>
                </a:solidFill>
                <a:latin typeface="Microsoft YaHei"/>
                <a:ea typeface="Microsoft YaHei"/>
              </a:rPr>
              <a:t>→</a:t>
            </a:r>
            <a:endParaRPr lang="zh-CN"/>
          </a:p>
        </p:txBody>
      </p:sp>
      <p:sp>
        <p:nvSpPr>
          <p:cNvPr id="17" name="Object 17"/>
          <p:cNvSpPr/>
          <p:nvPr/>
        </p:nvSpPr>
        <p:spPr>
          <a:xfrm>
            <a:off x="9128760" y="1836420"/>
            <a:ext cx="2575560" cy="502920"/>
          </a:xfrm>
          <a:prstGeom prst="rect">
            <a:avLst/>
          </a:prstGeom>
          <a:solidFill>
            <a:srgbClr val="E8F0F8"/>
          </a:solidFill>
          <a:ln>
            <a:noFill/>
          </a:ln>
        </p:spPr>
      </p:sp>
      <p:sp>
        <p:nvSpPr>
          <p:cNvPr id="18" name="Object 18"/>
          <p:cNvSpPr txBox="1"/>
          <p:nvPr/>
        </p:nvSpPr>
        <p:spPr>
          <a:xfrm>
            <a:off x="9250680" y="1958340"/>
            <a:ext cx="2346960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28000"/>
              </a:lnSpc>
              <a:spcAft>
                <a:spcPts val="0"/>
              </a:spcAft>
            </a:pPr>
            <a:r>
              <a:rPr lang="zh-CN" sz="1500" b="1">
                <a:solidFill>
                  <a:srgbClr val="15324F"/>
                </a:solidFill>
                <a:latin typeface="Microsoft YaHei"/>
                <a:ea typeface="Microsoft YaHei"/>
              </a:rPr>
              <a:t>LS 测高与调焦调平</a:t>
            </a:r>
            <a:endParaRPr lang="zh-CN"/>
          </a:p>
        </p:txBody>
      </p:sp>
      <p:sp>
        <p:nvSpPr>
          <p:cNvPr id="19" name="Object 19"/>
          <p:cNvSpPr txBox="1"/>
          <p:nvPr/>
        </p:nvSpPr>
        <p:spPr>
          <a:xfrm>
            <a:off x="487680" y="2453640"/>
            <a:ext cx="112166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28000"/>
              </a:lnSpc>
              <a:spcAft>
                <a:spcPts val="0"/>
              </a:spcAft>
            </a:pPr>
            <a:r>
              <a:rPr lang="zh-CN" sz="1260" b="0">
                <a:solidFill>
                  <a:srgbClr val="586B7A"/>
                </a:solidFill>
                <a:latin typeface="Microsoft YaHei"/>
                <a:ea typeface="Microsoft YaHei"/>
              </a:rPr>
              <a:t>需求传导，并非固定比例换算。</a:t>
            </a:r>
            <a:endParaRPr lang="zh-CN"/>
          </a:p>
        </p:txBody>
      </p:sp>
      <p:sp>
        <p:nvSpPr>
          <p:cNvPr id="20" name="Object 20"/>
          <p:cNvSpPr txBox="1"/>
          <p:nvPr/>
        </p:nvSpPr>
        <p:spPr>
          <a:xfrm>
            <a:off x="487680" y="2971800"/>
            <a:ext cx="6477000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28000"/>
              </a:lnSpc>
              <a:spcAft>
                <a:spcPts val="0"/>
              </a:spcAft>
            </a:pPr>
            <a:r>
              <a:rPr lang="zh-CN" sz="1560" b="1">
                <a:solidFill>
                  <a:srgbClr val="15324F"/>
                </a:solidFill>
                <a:latin typeface="Microsoft YaHei"/>
                <a:ea typeface="Microsoft YaHei"/>
              </a:rPr>
              <a:t>主要参与者｜按角色与应用区分</a:t>
            </a:r>
            <a:endParaRPr lang="zh-CN"/>
          </a:p>
        </p:txBody>
      </p:sp>
      <p:sp>
        <p:nvSpPr>
          <p:cNvPr id="21" name="Object 21"/>
          <p:cNvSpPr/>
          <p:nvPr/>
        </p:nvSpPr>
        <p:spPr>
          <a:xfrm>
            <a:off x="487680" y="3878580"/>
            <a:ext cx="6461760" cy="7620"/>
          </a:xfrm>
          <a:prstGeom prst="rect">
            <a:avLst/>
          </a:prstGeom>
          <a:solidFill>
            <a:srgbClr val="D7E0E8"/>
          </a:solidFill>
          <a:ln>
            <a:noFill/>
          </a:ln>
        </p:spPr>
      </p:sp>
      <p:sp>
        <p:nvSpPr>
          <p:cNvPr id="22" name="Object 22"/>
          <p:cNvSpPr txBox="1"/>
          <p:nvPr/>
        </p:nvSpPr>
        <p:spPr>
          <a:xfrm>
            <a:off x="487680" y="3429000"/>
            <a:ext cx="952500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28000"/>
              </a:lnSpc>
              <a:spcAft>
                <a:spcPts val="0"/>
              </a:spcAft>
            </a:pPr>
            <a:r>
              <a:rPr lang="zh-CN" sz="1380" b="1">
                <a:solidFill>
                  <a:srgbClr val="15324F"/>
                </a:solidFill>
                <a:latin typeface="Microsoft YaHei"/>
                <a:ea typeface="Microsoft YaHei"/>
              </a:rPr>
              <a:t>国际整机</a:t>
            </a:r>
            <a:endParaRPr lang="zh-CN"/>
          </a:p>
        </p:txBody>
      </p:sp>
      <p:sp>
        <p:nvSpPr>
          <p:cNvPr id="23" name="Object 23"/>
          <p:cNvSpPr txBox="1"/>
          <p:nvPr/>
        </p:nvSpPr>
        <p:spPr>
          <a:xfrm>
            <a:off x="1485900" y="3429000"/>
            <a:ext cx="54483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28000"/>
              </a:lnSpc>
              <a:spcAft>
                <a:spcPts val="0"/>
              </a:spcAft>
            </a:pPr>
            <a:r>
              <a:rPr lang="zh-CN" sz="1320" b="0">
                <a:solidFill>
                  <a:srgbClr val="243746"/>
                </a:solidFill>
                <a:latin typeface="Microsoft YaHei"/>
                <a:ea typeface="Microsoft YaHei"/>
              </a:rPr>
              <a:t>ASML：EUV / DUV；Nikon：投影光刻；Canon：KrF / i-line等</a:t>
            </a:r>
            <a:endParaRPr lang="zh-CN"/>
          </a:p>
        </p:txBody>
      </p:sp>
      <p:sp>
        <p:nvSpPr>
          <p:cNvPr id="24" name="Object 24"/>
          <p:cNvSpPr/>
          <p:nvPr/>
        </p:nvSpPr>
        <p:spPr>
          <a:xfrm>
            <a:off x="487680" y="4411980"/>
            <a:ext cx="6461760" cy="7620"/>
          </a:xfrm>
          <a:prstGeom prst="rect">
            <a:avLst/>
          </a:prstGeom>
          <a:solidFill>
            <a:srgbClr val="D7E0E8"/>
          </a:solidFill>
          <a:ln>
            <a:noFill/>
          </a:ln>
        </p:spPr>
      </p:sp>
      <p:sp>
        <p:nvSpPr>
          <p:cNvPr id="25" name="Object 25"/>
          <p:cNvSpPr txBox="1"/>
          <p:nvPr/>
        </p:nvSpPr>
        <p:spPr>
          <a:xfrm>
            <a:off x="487680" y="3962400"/>
            <a:ext cx="952500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28000"/>
              </a:lnSpc>
              <a:spcAft>
                <a:spcPts val="0"/>
              </a:spcAft>
            </a:pPr>
            <a:r>
              <a:rPr lang="zh-CN" sz="1380" b="1">
                <a:solidFill>
                  <a:srgbClr val="15324F"/>
                </a:solidFill>
                <a:latin typeface="Microsoft YaHei"/>
                <a:ea typeface="Microsoft YaHei"/>
              </a:rPr>
              <a:t>国内整机</a:t>
            </a:r>
            <a:endParaRPr lang="zh-CN"/>
          </a:p>
        </p:txBody>
      </p:sp>
      <p:sp>
        <p:nvSpPr>
          <p:cNvPr id="26" name="Object 26"/>
          <p:cNvSpPr txBox="1"/>
          <p:nvPr/>
        </p:nvSpPr>
        <p:spPr>
          <a:xfrm>
            <a:off x="1485900" y="3962400"/>
            <a:ext cx="54483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28000"/>
              </a:lnSpc>
              <a:spcAft>
                <a:spcPts val="0"/>
              </a:spcAft>
            </a:pPr>
            <a:r>
              <a:rPr lang="zh-CN" sz="1320" b="0">
                <a:solidFill>
                  <a:srgbClr val="243746"/>
                </a:solidFill>
                <a:latin typeface="Microsoft YaHei"/>
                <a:ea typeface="Microsoft YaHei"/>
              </a:rPr>
              <a:t>SMEE：公开 SSX600 调焦调平能力</a:t>
            </a:r>
            <a:endParaRPr lang="zh-CN"/>
          </a:p>
        </p:txBody>
      </p:sp>
      <p:sp>
        <p:nvSpPr>
          <p:cNvPr id="27" name="Object 27"/>
          <p:cNvSpPr/>
          <p:nvPr/>
        </p:nvSpPr>
        <p:spPr>
          <a:xfrm>
            <a:off x="487680" y="4945380"/>
            <a:ext cx="6461760" cy="7620"/>
          </a:xfrm>
          <a:prstGeom prst="rect">
            <a:avLst/>
          </a:prstGeom>
          <a:solidFill>
            <a:srgbClr val="D7E0E8"/>
          </a:solidFill>
          <a:ln>
            <a:noFill/>
          </a:ln>
        </p:spPr>
      </p:sp>
      <p:sp>
        <p:nvSpPr>
          <p:cNvPr id="28" name="Object 28"/>
          <p:cNvSpPr txBox="1"/>
          <p:nvPr/>
        </p:nvSpPr>
        <p:spPr>
          <a:xfrm>
            <a:off x="487680" y="4495800"/>
            <a:ext cx="952500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28000"/>
              </a:lnSpc>
              <a:spcAft>
                <a:spcPts val="0"/>
              </a:spcAft>
            </a:pPr>
            <a:r>
              <a:rPr lang="zh-CN" sz="1380" b="1">
                <a:solidFill>
                  <a:srgbClr val="15324F"/>
                </a:solidFill>
                <a:latin typeface="Microsoft YaHei"/>
                <a:ea typeface="Microsoft YaHei"/>
              </a:rPr>
              <a:t>上游光学</a:t>
            </a:r>
            <a:endParaRPr lang="zh-CN"/>
          </a:p>
        </p:txBody>
      </p:sp>
      <p:sp>
        <p:nvSpPr>
          <p:cNvPr id="29" name="Object 29"/>
          <p:cNvSpPr txBox="1"/>
          <p:nvPr/>
        </p:nvSpPr>
        <p:spPr>
          <a:xfrm>
            <a:off x="1485900" y="4495800"/>
            <a:ext cx="54483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28000"/>
              </a:lnSpc>
              <a:spcAft>
                <a:spcPts val="0"/>
              </a:spcAft>
            </a:pPr>
            <a:r>
              <a:rPr lang="zh-CN" sz="1320" b="0">
                <a:solidFill>
                  <a:srgbClr val="243746"/>
                </a:solidFill>
                <a:latin typeface="Microsoft YaHei"/>
                <a:ea typeface="Microsoft YaHei"/>
              </a:rPr>
              <a:t>ZEISS：光刻光学能力；未确认整套 LS 供货关系</a:t>
            </a:r>
            <a:endParaRPr lang="zh-CN"/>
          </a:p>
        </p:txBody>
      </p:sp>
      <p:sp>
        <p:nvSpPr>
          <p:cNvPr id="30" name="Object 30"/>
          <p:cNvSpPr/>
          <p:nvPr/>
        </p:nvSpPr>
        <p:spPr>
          <a:xfrm>
            <a:off x="487680" y="5478780"/>
            <a:ext cx="6461760" cy="7620"/>
          </a:xfrm>
          <a:prstGeom prst="rect">
            <a:avLst/>
          </a:prstGeom>
          <a:solidFill>
            <a:srgbClr val="D7E0E8"/>
          </a:solidFill>
          <a:ln>
            <a:noFill/>
          </a:ln>
        </p:spPr>
      </p:sp>
      <p:sp>
        <p:nvSpPr>
          <p:cNvPr id="31" name="Object 31"/>
          <p:cNvSpPr txBox="1"/>
          <p:nvPr/>
        </p:nvSpPr>
        <p:spPr>
          <a:xfrm>
            <a:off x="487680" y="5029200"/>
            <a:ext cx="952500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28000"/>
              </a:lnSpc>
              <a:spcAft>
                <a:spcPts val="0"/>
              </a:spcAft>
            </a:pPr>
            <a:r>
              <a:rPr lang="zh-CN" sz="1380" b="1">
                <a:solidFill>
                  <a:srgbClr val="15324F"/>
                </a:solidFill>
                <a:latin typeface="Microsoft YaHei"/>
                <a:ea typeface="Microsoft YaHei"/>
              </a:rPr>
              <a:t>国内研发</a:t>
            </a:r>
            <a:endParaRPr lang="zh-CN"/>
          </a:p>
        </p:txBody>
      </p:sp>
      <p:sp>
        <p:nvSpPr>
          <p:cNvPr id="32" name="Object 32"/>
          <p:cNvSpPr txBox="1"/>
          <p:nvPr/>
        </p:nvSpPr>
        <p:spPr>
          <a:xfrm>
            <a:off x="1485900" y="5029200"/>
            <a:ext cx="54483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28000"/>
              </a:lnSpc>
              <a:spcAft>
                <a:spcPts val="0"/>
              </a:spcAft>
            </a:pPr>
            <a:r>
              <a:rPr lang="zh-CN" sz="1320" b="0">
                <a:solidFill>
                  <a:srgbClr val="243746"/>
                </a:solidFill>
                <a:latin typeface="Microsoft YaHei"/>
                <a:ea typeface="Microsoft YaHei"/>
              </a:rPr>
              <a:t>中科院相关机构、高校：科研与联合研发角色</a:t>
            </a:r>
            <a:endParaRPr lang="zh-CN"/>
          </a:p>
        </p:txBody>
      </p:sp>
      <p:sp>
        <p:nvSpPr>
          <p:cNvPr id="33" name="Object 33"/>
          <p:cNvSpPr txBox="1"/>
          <p:nvPr/>
        </p:nvSpPr>
        <p:spPr>
          <a:xfrm>
            <a:off x="487680" y="5646420"/>
            <a:ext cx="647700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28000"/>
              </a:lnSpc>
              <a:spcAft>
                <a:spcPts val="0"/>
              </a:spcAft>
            </a:pPr>
            <a:r>
              <a:rPr lang="zh-CN" sz="1200" b="0">
                <a:solidFill>
                  <a:srgbClr val="586B7A"/>
                </a:solidFill>
                <a:latin typeface="Microsoft YaHei"/>
                <a:ea typeface="Microsoft YaHei"/>
              </a:rPr>
              <a:t>不代表能力或份额对等；SMEE 销量与先进节点量产未披露。</a:t>
            </a:r>
            <a:endParaRPr lang="zh-CN"/>
          </a:p>
        </p:txBody>
      </p:sp>
      <p:sp>
        <p:nvSpPr>
          <p:cNvPr id="34" name="Object 34"/>
          <p:cNvSpPr/>
          <p:nvPr/>
        </p:nvSpPr>
        <p:spPr>
          <a:xfrm>
            <a:off x="7239000" y="2971800"/>
            <a:ext cx="15240" cy="3009900"/>
          </a:xfrm>
          <a:prstGeom prst="rect">
            <a:avLst/>
          </a:prstGeom>
          <a:solidFill>
            <a:srgbClr val="D7E0E8"/>
          </a:solidFill>
          <a:ln>
            <a:noFill/>
          </a:ln>
        </p:spPr>
      </p:sp>
      <p:sp>
        <p:nvSpPr>
          <p:cNvPr id="35" name="Object 35"/>
          <p:cNvSpPr txBox="1"/>
          <p:nvPr/>
        </p:nvSpPr>
        <p:spPr>
          <a:xfrm>
            <a:off x="7543800" y="2971800"/>
            <a:ext cx="416052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28000"/>
              </a:lnSpc>
              <a:spcAft>
                <a:spcPts val="0"/>
              </a:spcAft>
            </a:pPr>
            <a:r>
              <a:rPr lang="zh-CN" sz="1440" b="1">
                <a:solidFill>
                  <a:srgbClr val="15324F"/>
                </a:solidFill>
                <a:latin typeface="Microsoft YaHei"/>
                <a:ea typeface="Microsoft YaHei"/>
              </a:rPr>
              <a:t>公开需求代理｜不是 LS 市场规模</a:t>
            </a:r>
            <a:endParaRPr lang="zh-CN"/>
          </a:p>
        </p:txBody>
      </p:sp>
      <p:sp>
        <p:nvSpPr>
          <p:cNvPr id="36" name="Object 36"/>
          <p:cNvSpPr txBox="1"/>
          <p:nvPr/>
        </p:nvSpPr>
        <p:spPr>
          <a:xfrm>
            <a:off x="7543800" y="3352800"/>
            <a:ext cx="416052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28000"/>
              </a:lnSpc>
              <a:spcAft>
                <a:spcPts val="0"/>
              </a:spcAft>
            </a:pPr>
            <a:r>
              <a:rPr lang="zh-CN" sz="1380" b="1">
                <a:solidFill>
                  <a:srgbClr val="243746"/>
                </a:solidFill>
                <a:latin typeface="Microsoft YaHei"/>
                <a:ea typeface="Microsoft YaHei"/>
              </a:rPr>
              <a:t>ASML 新光刻系统销量</a:t>
            </a:r>
            <a:endParaRPr lang="zh-CN"/>
          </a:p>
        </p:txBody>
      </p:sp>
      <p:sp>
        <p:nvSpPr>
          <p:cNvPr id="37" name="Object 37"/>
          <p:cNvSpPr txBox="1"/>
          <p:nvPr/>
        </p:nvSpPr>
        <p:spPr>
          <a:xfrm>
            <a:off x="7543800" y="3703320"/>
            <a:ext cx="15240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28000"/>
              </a:lnSpc>
              <a:spcAft>
                <a:spcPts val="0"/>
              </a:spcAft>
            </a:pPr>
            <a:r>
              <a:rPr lang="zh-CN" sz="2880" b="1">
                <a:solidFill>
                  <a:srgbClr val="2166A5"/>
                </a:solidFill>
                <a:latin typeface="Microsoft YaHei"/>
                <a:ea typeface="Microsoft YaHei"/>
              </a:rPr>
              <a:t>380</a:t>
            </a:r>
            <a:endParaRPr lang="zh-CN"/>
          </a:p>
        </p:txBody>
      </p:sp>
      <p:sp>
        <p:nvSpPr>
          <p:cNvPr id="38" name="Object 38"/>
          <p:cNvSpPr txBox="1"/>
          <p:nvPr/>
        </p:nvSpPr>
        <p:spPr>
          <a:xfrm>
            <a:off x="9509760" y="3703320"/>
            <a:ext cx="15240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28000"/>
              </a:lnSpc>
              <a:spcAft>
                <a:spcPts val="0"/>
              </a:spcAft>
            </a:pPr>
            <a:r>
              <a:rPr lang="zh-CN" sz="2880" b="1">
                <a:solidFill>
                  <a:srgbClr val="2166A5"/>
                </a:solidFill>
                <a:latin typeface="Microsoft YaHei"/>
                <a:ea typeface="Microsoft YaHei"/>
              </a:rPr>
              <a:t>300</a:t>
            </a:r>
            <a:endParaRPr lang="zh-CN"/>
          </a:p>
        </p:txBody>
      </p:sp>
      <p:sp>
        <p:nvSpPr>
          <p:cNvPr id="39" name="Object 39"/>
          <p:cNvSpPr txBox="1"/>
          <p:nvPr/>
        </p:nvSpPr>
        <p:spPr>
          <a:xfrm>
            <a:off x="7543800" y="4198620"/>
            <a:ext cx="15621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28000"/>
              </a:lnSpc>
              <a:spcAft>
                <a:spcPts val="0"/>
              </a:spcAft>
            </a:pPr>
            <a:r>
              <a:rPr lang="zh-CN" sz="1260" b="0">
                <a:solidFill>
                  <a:srgbClr val="586B7A"/>
                </a:solidFill>
                <a:latin typeface="Microsoft YaHei"/>
                <a:ea typeface="Microsoft YaHei"/>
              </a:rPr>
              <a:t>2024 年 · 台</a:t>
            </a:r>
            <a:endParaRPr lang="zh-CN"/>
          </a:p>
        </p:txBody>
      </p:sp>
      <p:sp>
        <p:nvSpPr>
          <p:cNvPr id="40" name="Object 40"/>
          <p:cNvSpPr txBox="1"/>
          <p:nvPr/>
        </p:nvSpPr>
        <p:spPr>
          <a:xfrm>
            <a:off x="9509760" y="4198620"/>
            <a:ext cx="17526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28000"/>
              </a:lnSpc>
              <a:spcAft>
                <a:spcPts val="0"/>
              </a:spcAft>
            </a:pPr>
            <a:r>
              <a:rPr lang="zh-CN" sz="1260" b="0">
                <a:solidFill>
                  <a:srgbClr val="586B7A"/>
                </a:solidFill>
                <a:latin typeface="Microsoft YaHei"/>
                <a:ea typeface="Microsoft YaHei"/>
              </a:rPr>
              <a:t>2025 年 · 台</a:t>
            </a:r>
            <a:endParaRPr lang="zh-CN"/>
          </a:p>
        </p:txBody>
      </p:sp>
      <p:sp>
        <p:nvSpPr>
          <p:cNvPr id="41" name="Object 41"/>
          <p:cNvSpPr txBox="1"/>
          <p:nvPr/>
        </p:nvSpPr>
        <p:spPr>
          <a:xfrm>
            <a:off x="7543800" y="4503420"/>
            <a:ext cx="41605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28000"/>
              </a:lnSpc>
              <a:spcAft>
                <a:spcPts val="0"/>
              </a:spcAft>
            </a:pPr>
            <a:r>
              <a:rPr lang="zh-CN" sz="1200" b="0">
                <a:solidFill>
                  <a:srgbClr val="586B7A"/>
                </a:solidFill>
                <a:latin typeface="Microsoft YaHei"/>
                <a:ea typeface="Microsoft YaHei"/>
              </a:rPr>
              <a:t>单一厂商年度波动，不代表行业下滑。</a:t>
            </a:r>
            <a:endParaRPr lang="zh-CN"/>
          </a:p>
        </p:txBody>
      </p:sp>
      <p:sp>
        <p:nvSpPr>
          <p:cNvPr id="42" name="Object 42"/>
          <p:cNvSpPr/>
          <p:nvPr/>
        </p:nvSpPr>
        <p:spPr>
          <a:xfrm>
            <a:off x="7543800" y="4853940"/>
            <a:ext cx="4160520" cy="7620"/>
          </a:xfrm>
          <a:prstGeom prst="rect">
            <a:avLst/>
          </a:prstGeom>
          <a:solidFill>
            <a:srgbClr val="D7E0E8"/>
          </a:solidFill>
          <a:ln>
            <a:noFill/>
          </a:ln>
        </p:spPr>
      </p:sp>
      <p:sp>
        <p:nvSpPr>
          <p:cNvPr id="43" name="Object 43"/>
          <p:cNvSpPr txBox="1"/>
          <p:nvPr/>
        </p:nvSpPr>
        <p:spPr>
          <a:xfrm>
            <a:off x="7543800" y="5021580"/>
            <a:ext cx="416052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28000"/>
              </a:lnSpc>
              <a:spcAft>
                <a:spcPts val="0"/>
              </a:spcAft>
            </a:pPr>
            <a:r>
              <a:rPr lang="zh-CN" sz="1320" b="1">
                <a:solidFill>
                  <a:srgbClr val="243746"/>
                </a:solidFill>
                <a:latin typeface="Microsoft YaHei"/>
                <a:ea typeface="Microsoft YaHei"/>
              </a:rPr>
              <a:t>全球半导体设备销售额 billings</a:t>
            </a:r>
            <a:endParaRPr lang="zh-CN"/>
          </a:p>
        </p:txBody>
      </p:sp>
      <p:sp>
        <p:nvSpPr>
          <p:cNvPr id="44" name="Object 44"/>
          <p:cNvSpPr txBox="1"/>
          <p:nvPr/>
        </p:nvSpPr>
        <p:spPr>
          <a:xfrm>
            <a:off x="7543800" y="5334000"/>
            <a:ext cx="2362200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28000"/>
              </a:lnSpc>
              <a:spcAft>
                <a:spcPts val="0"/>
              </a:spcAft>
            </a:pPr>
            <a:r>
              <a:rPr lang="zh-CN" sz="2160" b="1">
                <a:solidFill>
                  <a:srgbClr val="2166A5"/>
                </a:solidFill>
                <a:latin typeface="Microsoft YaHei"/>
                <a:ea typeface="Microsoft YaHei"/>
              </a:rPr>
              <a:t>405.3 亿美元</a:t>
            </a:r>
            <a:endParaRPr lang="zh-CN"/>
          </a:p>
        </p:txBody>
      </p:sp>
      <p:sp>
        <p:nvSpPr>
          <p:cNvPr id="45" name="Object 45"/>
          <p:cNvSpPr txBox="1"/>
          <p:nvPr/>
        </p:nvSpPr>
        <p:spPr>
          <a:xfrm>
            <a:off x="9982200" y="5379720"/>
            <a:ext cx="1722120" cy="3276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28000"/>
              </a:lnSpc>
              <a:spcAft>
                <a:spcPts val="0"/>
              </a:spcAft>
            </a:pPr>
            <a:r>
              <a:rPr lang="zh-CN" sz="1620" b="1">
                <a:solidFill>
                  <a:srgbClr val="2166A5"/>
                </a:solidFill>
                <a:latin typeface="Microsoft YaHei"/>
                <a:ea typeface="Microsoft YaHei"/>
              </a:rPr>
              <a:t>同比 +23%</a:t>
            </a:r>
            <a:endParaRPr lang="zh-CN"/>
          </a:p>
        </p:txBody>
      </p:sp>
      <p:sp>
        <p:nvSpPr>
          <p:cNvPr id="46" name="Object 46"/>
          <p:cNvSpPr txBox="1"/>
          <p:nvPr/>
        </p:nvSpPr>
        <p:spPr>
          <a:xfrm>
            <a:off x="7543800" y="5775960"/>
            <a:ext cx="4160520" cy="2362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28000"/>
              </a:lnSpc>
              <a:spcAft>
                <a:spcPts val="0"/>
              </a:spcAft>
            </a:pPr>
            <a:r>
              <a:rPr lang="zh-CN" sz="1200" b="0">
                <a:solidFill>
                  <a:srgbClr val="586B7A"/>
                </a:solidFill>
                <a:latin typeface="Microsoft YaHei"/>
                <a:ea typeface="Microsoft YaHei"/>
              </a:rPr>
              <a:t>2026 Q2 · 全部设备 · 单季度，不年化</a:t>
            </a:r>
            <a:endParaRPr lang="zh-CN"/>
          </a:p>
        </p:txBody>
      </p:sp>
      <p:sp>
        <p:nvSpPr>
          <p:cNvPr id="47" name="Object 47"/>
          <p:cNvSpPr/>
          <p:nvPr/>
        </p:nvSpPr>
        <p:spPr>
          <a:xfrm>
            <a:off x="487680" y="6187440"/>
            <a:ext cx="11216640" cy="7620"/>
          </a:xfrm>
          <a:prstGeom prst="rect">
            <a:avLst/>
          </a:prstGeom>
          <a:solidFill>
            <a:srgbClr val="D7E0E8"/>
          </a:solidFill>
          <a:ln>
            <a:noFill/>
          </a:ln>
        </p:spPr>
      </p:sp>
      <p:sp>
        <p:nvSpPr>
          <p:cNvPr id="48" name="Object 48"/>
          <p:cNvSpPr txBox="1"/>
          <p:nvPr/>
        </p:nvSpPr>
        <p:spPr>
          <a:xfrm>
            <a:off x="487680" y="6324600"/>
            <a:ext cx="10515600" cy="3733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28000"/>
              </a:lnSpc>
              <a:spcAft>
                <a:spcPts val="0"/>
              </a:spcAft>
            </a:pPr>
            <a:r>
              <a:rPr lang="zh-CN" sz="1080" b="0">
                <a:solidFill>
                  <a:srgbClr val="586B7A"/>
                </a:solidFill>
                <a:latin typeface="Microsoft YaHei"/>
                <a:ea typeface="Microsoft YaHei"/>
              </a:rPr>
              <a:t>来源：ASML FY2025 [S01]；SEMI 2026Q2 [S02]；参与者 [S04–S11]。</a:t>
            </a:r>
            <a:endParaRPr lang="zh-CN"/>
          </a:p>
          <a:p>
            <a:pPr>
              <a:lnSpc>
                <a:spcPct val="128000"/>
              </a:lnSpc>
              <a:spcAft>
                <a:spcPts val="0"/>
              </a:spcAft>
            </a:pPr>
            <a:r>
              <a:rPr lang="zh-CN" sz="1080" b="0">
                <a:solidFill>
                  <a:srgbClr val="586B7A"/>
                </a:solidFill>
                <a:latin typeface="Microsoft YaHei"/>
                <a:ea typeface="Microsoft YaHei"/>
              </a:rPr>
              <a:t>光刻与 LS 未单列为该统计口径，不估算独立 LS TAM。</a:t>
            </a:r>
            <a:endParaRPr lang="zh-C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Object 3"/>
          <p:cNvSpPr/>
          <p:nvPr/>
        </p:nvSpPr>
        <p:spPr>
          <a:xfrm>
            <a:off x="487680" y="419100"/>
            <a:ext cx="60960" cy="342900"/>
          </a:xfrm>
          <a:prstGeom prst="rect">
            <a:avLst/>
          </a:prstGeom>
          <a:solidFill>
            <a:srgbClr val="2166A5"/>
          </a:solidFill>
          <a:ln>
            <a:noFill/>
          </a:ln>
        </p:spPr>
      </p:sp>
      <p:sp>
        <p:nvSpPr>
          <p:cNvPr id="4" name="Object 4"/>
          <p:cNvSpPr txBox="1"/>
          <p:nvPr/>
        </p:nvSpPr>
        <p:spPr>
          <a:xfrm>
            <a:off x="701040" y="365760"/>
            <a:ext cx="10972800" cy="472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28000"/>
              </a:lnSpc>
              <a:spcAft>
                <a:spcPts val="0"/>
              </a:spcAft>
            </a:pPr>
            <a:r>
              <a:rPr lang="zh-CN" sz="2280" b="1">
                <a:solidFill>
                  <a:srgbClr val="15324F"/>
                </a:solidFill>
                <a:latin typeface="Microsoft YaHei"/>
                <a:ea typeface="Microsoft YaHei"/>
              </a:rPr>
              <a:t>关键采购风险集中在紫外照明、精密光学与定制光栅</a:t>
            </a:r>
            <a:endParaRPr lang="zh-CN"/>
          </a:p>
        </p:txBody>
      </p:sp>
      <p:sp>
        <p:nvSpPr>
          <p:cNvPr id="5" name="Object 5"/>
          <p:cNvSpPr txBox="1"/>
          <p:nvPr/>
        </p:nvSpPr>
        <p:spPr>
          <a:xfrm>
            <a:off x="487680" y="906780"/>
            <a:ext cx="11216640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28000"/>
              </a:lnSpc>
              <a:spcAft>
                <a:spcPts val="0"/>
              </a:spcAft>
            </a:pPr>
            <a:r>
              <a:rPr lang="zh-CN" sz="1440" b="0">
                <a:solidFill>
                  <a:srgbClr val="586B7A"/>
                </a:solidFill>
                <a:latin typeface="Microsoft YaHei"/>
                <a:ea typeface="Microsoft YaHei"/>
              </a:rPr>
              <a:t>稳定交付取决于定制精度、批次一致性、迭代周期，以及换源后的系统重验证。</a:t>
            </a:r>
            <a:endParaRPr lang="zh-CN"/>
          </a:p>
        </p:txBody>
      </p:sp>
      <p:sp>
        <p:nvSpPr>
          <p:cNvPr id="6" name="Object 6"/>
          <p:cNvSpPr txBox="1"/>
          <p:nvPr/>
        </p:nvSpPr>
        <p:spPr>
          <a:xfrm>
            <a:off x="11201400" y="6469380"/>
            <a:ext cx="49530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28000"/>
              </a:lnSpc>
              <a:spcAft>
                <a:spcPts val="0"/>
              </a:spcAft>
            </a:pPr>
            <a:r>
              <a:rPr lang="zh-CN" sz="1080" b="0">
                <a:solidFill>
                  <a:srgbClr val="586B7A"/>
                </a:solidFill>
                <a:latin typeface="Microsoft YaHei"/>
                <a:ea typeface="Microsoft YaHei"/>
              </a:rPr>
              <a:t>02</a:t>
            </a:r>
            <a:endParaRPr lang="zh-CN"/>
          </a:p>
        </p:txBody>
      </p:sp>
      <p:sp>
        <p:nvSpPr>
          <p:cNvPr id="7" name="Object 7"/>
          <p:cNvSpPr txBox="1"/>
          <p:nvPr/>
        </p:nvSpPr>
        <p:spPr>
          <a:xfrm>
            <a:off x="487680" y="1379220"/>
            <a:ext cx="11216640" cy="2514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28000"/>
              </a:lnSpc>
              <a:spcAft>
                <a:spcPts val="0"/>
              </a:spcAft>
            </a:pPr>
            <a:r>
              <a:rPr lang="zh-CN" sz="1260" b="0">
                <a:solidFill>
                  <a:srgbClr val="586B7A"/>
                </a:solidFill>
                <a:latin typeface="Microsoft YaHei"/>
                <a:ea typeface="Microsoft YaHei"/>
              </a:rPr>
              <a:t>功能类别汇总；候选不是已认证供应商，具体器件按架构选用。</a:t>
            </a:r>
            <a:endParaRPr lang="zh-CN"/>
          </a:p>
        </p:txBody>
      </p:sp>
      <p:sp>
        <p:nvSpPr>
          <p:cNvPr id="8" name="Object 8"/>
          <p:cNvSpPr/>
          <p:nvPr/>
        </p:nvSpPr>
        <p:spPr>
          <a:xfrm>
            <a:off x="487680" y="1760220"/>
            <a:ext cx="11216640" cy="381000"/>
          </a:xfrm>
          <a:prstGeom prst="rect">
            <a:avLst/>
          </a:prstGeom>
          <a:solidFill>
            <a:srgbClr val="15324F"/>
          </a:solidFill>
          <a:ln>
            <a:noFill/>
          </a:ln>
        </p:spPr>
      </p:sp>
      <p:sp>
        <p:nvSpPr>
          <p:cNvPr id="9" name="Object 9"/>
          <p:cNvSpPr txBox="1"/>
          <p:nvPr/>
        </p:nvSpPr>
        <p:spPr>
          <a:xfrm>
            <a:off x="579120" y="1844040"/>
            <a:ext cx="13030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28000"/>
              </a:lnSpc>
              <a:spcAft>
                <a:spcPts val="0"/>
              </a:spcAft>
            </a:pPr>
            <a:r>
              <a:rPr lang="zh-CN" sz="1320" b="1">
                <a:solidFill>
                  <a:srgbClr val="FFFFFF"/>
                </a:solidFill>
                <a:latin typeface="Microsoft YaHei"/>
                <a:ea typeface="Microsoft YaHei"/>
              </a:rPr>
              <a:t>类别</a:t>
            </a:r>
            <a:endParaRPr lang="zh-CN"/>
          </a:p>
        </p:txBody>
      </p:sp>
      <p:sp>
        <p:nvSpPr>
          <p:cNvPr id="10" name="Object 10"/>
          <p:cNvSpPr txBox="1"/>
          <p:nvPr/>
        </p:nvSpPr>
        <p:spPr>
          <a:xfrm>
            <a:off x="2065020" y="1844040"/>
            <a:ext cx="16459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28000"/>
              </a:lnSpc>
              <a:spcAft>
                <a:spcPts val="0"/>
              </a:spcAft>
            </a:pPr>
            <a:r>
              <a:rPr lang="zh-CN" sz="1320" b="1">
                <a:solidFill>
                  <a:srgbClr val="FFFFFF"/>
                </a:solidFill>
                <a:latin typeface="Microsoft YaHei"/>
                <a:ea typeface="Microsoft YaHei"/>
              </a:rPr>
              <a:t>核心要求</a:t>
            </a:r>
            <a:endParaRPr lang="zh-CN"/>
          </a:p>
        </p:txBody>
      </p:sp>
      <p:sp>
        <p:nvSpPr>
          <p:cNvPr id="11" name="Object 11"/>
          <p:cNvSpPr txBox="1"/>
          <p:nvPr/>
        </p:nvSpPr>
        <p:spPr>
          <a:xfrm>
            <a:off x="3893820" y="1844040"/>
            <a:ext cx="22555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28000"/>
              </a:lnSpc>
              <a:spcAft>
                <a:spcPts val="0"/>
              </a:spcAft>
            </a:pPr>
            <a:r>
              <a:rPr lang="zh-CN" sz="1320" b="1">
                <a:solidFill>
                  <a:srgbClr val="FFFFFF"/>
                </a:solidFill>
                <a:latin typeface="Microsoft YaHei"/>
                <a:ea typeface="Microsoft YaHei"/>
              </a:rPr>
              <a:t>代表候选</a:t>
            </a:r>
            <a:endParaRPr lang="zh-CN"/>
          </a:p>
        </p:txBody>
      </p:sp>
      <p:sp>
        <p:nvSpPr>
          <p:cNvPr id="12" name="Object 12"/>
          <p:cNvSpPr txBox="1"/>
          <p:nvPr/>
        </p:nvSpPr>
        <p:spPr>
          <a:xfrm>
            <a:off x="6332220" y="1844040"/>
            <a:ext cx="15697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28000"/>
              </a:lnSpc>
              <a:spcAft>
                <a:spcPts val="0"/>
              </a:spcAft>
            </a:pPr>
            <a:r>
              <a:rPr lang="zh-CN" sz="1320" b="1">
                <a:solidFill>
                  <a:srgbClr val="FFFFFF"/>
                </a:solidFill>
                <a:latin typeface="Microsoft YaHei"/>
                <a:ea typeface="Microsoft YaHei"/>
              </a:rPr>
              <a:t>当前供应状态</a:t>
            </a:r>
            <a:endParaRPr lang="zh-CN"/>
          </a:p>
        </p:txBody>
      </p:sp>
      <p:sp>
        <p:nvSpPr>
          <p:cNvPr id="13" name="Object 13"/>
          <p:cNvSpPr txBox="1"/>
          <p:nvPr/>
        </p:nvSpPr>
        <p:spPr>
          <a:xfrm>
            <a:off x="8084820" y="1844040"/>
            <a:ext cx="26365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28000"/>
              </a:lnSpc>
              <a:spcAft>
                <a:spcPts val="0"/>
              </a:spcAft>
            </a:pPr>
            <a:r>
              <a:rPr lang="zh-CN" sz="1320" b="1">
                <a:solidFill>
                  <a:srgbClr val="FFFFFF"/>
                </a:solidFill>
                <a:latin typeface="Microsoft YaHei"/>
                <a:ea typeface="Microsoft YaHei"/>
              </a:rPr>
              <a:t>主要风险</a:t>
            </a:r>
            <a:endParaRPr lang="zh-CN"/>
          </a:p>
        </p:txBody>
      </p:sp>
      <p:sp>
        <p:nvSpPr>
          <p:cNvPr id="14" name="Object 14"/>
          <p:cNvSpPr txBox="1"/>
          <p:nvPr/>
        </p:nvSpPr>
        <p:spPr>
          <a:xfrm>
            <a:off x="10904220" y="1844040"/>
            <a:ext cx="7086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28000"/>
              </a:lnSpc>
              <a:spcAft>
                <a:spcPts val="0"/>
              </a:spcAft>
            </a:pPr>
            <a:r>
              <a:rPr lang="zh-CN" sz="1320" b="1">
                <a:solidFill>
                  <a:srgbClr val="FFFFFF"/>
                </a:solidFill>
                <a:latin typeface="Microsoft YaHei"/>
                <a:ea typeface="Microsoft YaHei"/>
              </a:rPr>
              <a:t>风险</a:t>
            </a:r>
            <a:endParaRPr lang="zh-CN"/>
          </a:p>
        </p:txBody>
      </p:sp>
      <p:sp>
        <p:nvSpPr>
          <p:cNvPr id="15" name="Object 15"/>
          <p:cNvSpPr/>
          <p:nvPr/>
        </p:nvSpPr>
        <p:spPr>
          <a:xfrm>
            <a:off x="487680" y="2141220"/>
            <a:ext cx="11216640" cy="670560"/>
          </a:xfrm>
          <a:prstGeom prst="rect">
            <a:avLst/>
          </a:prstGeom>
          <a:solidFill>
            <a:srgbClr val="F4F7FA"/>
          </a:solidFill>
          <a:ln>
            <a:noFill/>
          </a:ln>
        </p:spPr>
      </p:sp>
      <p:sp>
        <p:nvSpPr>
          <p:cNvPr id="16" name="Object 16"/>
          <p:cNvSpPr/>
          <p:nvPr/>
        </p:nvSpPr>
        <p:spPr>
          <a:xfrm>
            <a:off x="487680" y="2141220"/>
            <a:ext cx="38100" cy="670560"/>
          </a:xfrm>
          <a:prstGeom prst="rect">
            <a:avLst/>
          </a:prstGeom>
          <a:solidFill>
            <a:srgbClr val="A54719"/>
          </a:solidFill>
          <a:ln>
            <a:noFill/>
          </a:ln>
        </p:spPr>
      </p:sp>
      <p:sp>
        <p:nvSpPr>
          <p:cNvPr id="17" name="Object 17"/>
          <p:cNvSpPr txBox="1"/>
          <p:nvPr/>
        </p:nvSpPr>
        <p:spPr>
          <a:xfrm>
            <a:off x="579120" y="2255520"/>
            <a:ext cx="1303020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28000"/>
              </a:lnSpc>
              <a:spcAft>
                <a:spcPts val="0"/>
              </a:spcAft>
            </a:pPr>
            <a:r>
              <a:rPr lang="zh-CN" sz="1260" b="1">
                <a:solidFill>
                  <a:srgbClr val="15324F"/>
                </a:solidFill>
                <a:latin typeface="Microsoft YaHei"/>
                <a:ea typeface="Microsoft YaHei"/>
              </a:rPr>
              <a:t>UV/DUV 照明</a:t>
            </a:r>
            <a:endParaRPr lang="zh-CN"/>
          </a:p>
        </p:txBody>
      </p:sp>
      <p:sp>
        <p:nvSpPr>
          <p:cNvPr id="18" name="Object 18"/>
          <p:cNvSpPr txBox="1"/>
          <p:nvPr/>
        </p:nvSpPr>
        <p:spPr>
          <a:xfrm>
            <a:off x="2065020" y="2255520"/>
            <a:ext cx="1645920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28000"/>
              </a:lnSpc>
              <a:spcAft>
                <a:spcPts val="0"/>
              </a:spcAft>
            </a:pPr>
            <a:r>
              <a:rPr lang="zh-CN" sz="1260" b="0">
                <a:solidFill>
                  <a:srgbClr val="243746"/>
                </a:solidFill>
                <a:latin typeface="Microsoft YaHei"/>
                <a:ea typeface="Microsoft YaHei"/>
              </a:rPr>
              <a:t>有效光谱亮度</a:t>
            </a:r>
            <a:endParaRPr lang="zh-CN"/>
          </a:p>
          <a:p>
            <a:pPr>
              <a:lnSpc>
                <a:spcPct val="128000"/>
              </a:lnSpc>
              <a:spcAft>
                <a:spcPts val="0"/>
              </a:spcAft>
            </a:pPr>
            <a:r>
              <a:rPr lang="zh-CN" sz="1260" b="0">
                <a:solidFill>
                  <a:srgbClr val="243746"/>
                </a:solidFill>
                <a:latin typeface="Microsoft YaHei"/>
                <a:ea typeface="Microsoft YaHei"/>
              </a:rPr>
              <a:t>稳定性、耦合、寿命</a:t>
            </a:r>
            <a:endParaRPr lang="zh-CN"/>
          </a:p>
        </p:txBody>
      </p:sp>
      <p:sp>
        <p:nvSpPr>
          <p:cNvPr id="19" name="Object 19"/>
          <p:cNvSpPr txBox="1"/>
          <p:nvPr/>
        </p:nvSpPr>
        <p:spPr>
          <a:xfrm>
            <a:off x="3893820" y="2255520"/>
            <a:ext cx="2255520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28000"/>
              </a:lnSpc>
              <a:spcAft>
                <a:spcPts val="0"/>
              </a:spcAft>
            </a:pPr>
            <a:r>
              <a:rPr lang="zh-CN" sz="1200" b="0">
                <a:solidFill>
                  <a:srgbClr val="243746"/>
                </a:solidFill>
                <a:latin typeface="Microsoft YaHei"/>
                <a:ea typeface="Microsoft YaHei"/>
              </a:rPr>
              <a:t>Energetiq / Hamamatsu</a:t>
            </a:r>
            <a:endParaRPr lang="zh-CN"/>
          </a:p>
          <a:p>
            <a:pPr>
              <a:lnSpc>
                <a:spcPct val="128000"/>
              </a:lnSpc>
              <a:spcAft>
                <a:spcPts val="0"/>
              </a:spcAft>
            </a:pPr>
            <a:r>
              <a:rPr lang="zh-CN" sz="1200" b="0">
                <a:solidFill>
                  <a:srgbClr val="243746"/>
                </a:solidFill>
                <a:latin typeface="Microsoft YaHei"/>
                <a:ea typeface="Microsoft YaHei"/>
              </a:rPr>
              <a:t>卓立汉光：系统候选</a:t>
            </a:r>
            <a:endParaRPr lang="zh-CN"/>
          </a:p>
        </p:txBody>
      </p:sp>
      <p:sp>
        <p:nvSpPr>
          <p:cNvPr id="20" name="Object 20"/>
          <p:cNvSpPr txBox="1"/>
          <p:nvPr/>
        </p:nvSpPr>
        <p:spPr>
          <a:xfrm>
            <a:off x="6332220" y="2255520"/>
            <a:ext cx="1569720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28000"/>
              </a:lnSpc>
              <a:spcAft>
                <a:spcPts val="0"/>
              </a:spcAft>
            </a:pPr>
            <a:r>
              <a:rPr lang="zh-CN" sz="1260" b="0">
                <a:solidFill>
                  <a:srgbClr val="243746"/>
                </a:solidFill>
                <a:latin typeface="Microsoft YaHei"/>
                <a:ea typeface="Microsoft YaHei"/>
              </a:rPr>
              <a:t>商用品存在</a:t>
            </a:r>
            <a:endParaRPr lang="zh-CN"/>
          </a:p>
          <a:p>
            <a:pPr>
              <a:lnSpc>
                <a:spcPct val="128000"/>
              </a:lnSpc>
              <a:spcAft>
                <a:spcPts val="0"/>
              </a:spcAft>
            </a:pPr>
            <a:r>
              <a:rPr lang="zh-CN" sz="1260" b="0">
                <a:solidFill>
                  <a:srgbClr val="243746"/>
                </a:solidFill>
                <a:latin typeface="Microsoft YaHei"/>
                <a:ea typeface="Microsoft YaHei"/>
              </a:rPr>
              <a:t>系统适配待验证</a:t>
            </a:r>
            <a:endParaRPr lang="zh-CN"/>
          </a:p>
        </p:txBody>
      </p:sp>
      <p:sp>
        <p:nvSpPr>
          <p:cNvPr id="21" name="Object 21"/>
          <p:cNvSpPr txBox="1"/>
          <p:nvPr/>
        </p:nvSpPr>
        <p:spPr>
          <a:xfrm>
            <a:off x="8084820" y="2255520"/>
            <a:ext cx="2636520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28000"/>
              </a:lnSpc>
              <a:spcAft>
                <a:spcPts val="0"/>
              </a:spcAft>
            </a:pPr>
            <a:r>
              <a:rPr lang="zh-CN" sz="1260" b="0">
                <a:solidFill>
                  <a:srgbClr val="243746"/>
                </a:solidFill>
                <a:latin typeface="Microsoft YaHei"/>
                <a:ea typeface="Microsoft YaHei"/>
              </a:rPr>
              <a:t>光预算、长期漂移</a:t>
            </a:r>
            <a:endParaRPr lang="zh-CN"/>
          </a:p>
          <a:p>
            <a:pPr>
              <a:lnSpc>
                <a:spcPct val="128000"/>
              </a:lnSpc>
              <a:spcAft>
                <a:spcPts val="0"/>
              </a:spcAft>
            </a:pPr>
            <a:r>
              <a:rPr lang="zh-CN" sz="1260" b="0">
                <a:solidFill>
                  <a:srgbClr val="243746"/>
                </a:solidFill>
                <a:latin typeface="Microsoft YaHei"/>
                <a:ea typeface="Microsoft YaHei"/>
              </a:rPr>
              <a:t>换源重标定</a:t>
            </a:r>
            <a:endParaRPr lang="zh-CN"/>
          </a:p>
        </p:txBody>
      </p:sp>
      <p:sp>
        <p:nvSpPr>
          <p:cNvPr id="22" name="Object 22"/>
          <p:cNvSpPr txBox="1"/>
          <p:nvPr/>
        </p:nvSpPr>
        <p:spPr>
          <a:xfrm>
            <a:off x="10896600" y="2232660"/>
            <a:ext cx="731520" cy="2362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28000"/>
              </a:lnSpc>
              <a:spcAft>
                <a:spcPts val="0"/>
              </a:spcAft>
            </a:pPr>
            <a:r>
              <a:rPr lang="zh-CN" sz="1380" b="1">
                <a:solidFill>
                  <a:srgbClr val="A54719"/>
                </a:solidFill>
                <a:latin typeface="Microsoft YaHei"/>
                <a:ea typeface="Microsoft YaHei"/>
              </a:rPr>
              <a:t>高</a:t>
            </a:r>
            <a:endParaRPr lang="zh-CN"/>
          </a:p>
        </p:txBody>
      </p:sp>
      <p:sp>
        <p:nvSpPr>
          <p:cNvPr id="23" name="Object 23"/>
          <p:cNvSpPr txBox="1"/>
          <p:nvPr/>
        </p:nvSpPr>
        <p:spPr>
          <a:xfrm>
            <a:off x="10858500" y="2514600"/>
            <a:ext cx="807720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28000"/>
              </a:lnSpc>
              <a:spcAft>
                <a:spcPts val="0"/>
              </a:spcAft>
            </a:pPr>
            <a:r>
              <a:rPr lang="zh-CN" sz="960" b="0">
                <a:solidFill>
                  <a:srgbClr val="586B7A"/>
                </a:solidFill>
                <a:latin typeface="Microsoft YaHei"/>
                <a:ea typeface="Microsoft YaHei"/>
              </a:rPr>
              <a:t>高亮度分支</a:t>
            </a:r>
            <a:endParaRPr lang="zh-CN"/>
          </a:p>
        </p:txBody>
      </p:sp>
      <p:sp>
        <p:nvSpPr>
          <p:cNvPr id="24" name="Object 24"/>
          <p:cNvSpPr/>
          <p:nvPr/>
        </p:nvSpPr>
        <p:spPr>
          <a:xfrm>
            <a:off x="487680" y="2804160"/>
            <a:ext cx="11216640" cy="7620"/>
          </a:xfrm>
          <a:prstGeom prst="rect">
            <a:avLst/>
          </a:prstGeom>
          <a:solidFill>
            <a:srgbClr val="D7E0E8"/>
          </a:solidFill>
          <a:ln>
            <a:noFill/>
          </a:ln>
        </p:spPr>
      </p:sp>
      <p:sp>
        <p:nvSpPr>
          <p:cNvPr id="25" name="Object 25"/>
          <p:cNvSpPr/>
          <p:nvPr/>
        </p:nvSpPr>
        <p:spPr>
          <a:xfrm>
            <a:off x="487680" y="2811780"/>
            <a:ext cx="11216640" cy="67056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6" name="Object 26"/>
          <p:cNvSpPr/>
          <p:nvPr/>
        </p:nvSpPr>
        <p:spPr>
          <a:xfrm>
            <a:off x="487680" y="2811780"/>
            <a:ext cx="38100" cy="670560"/>
          </a:xfrm>
          <a:prstGeom prst="rect">
            <a:avLst/>
          </a:prstGeom>
          <a:solidFill>
            <a:srgbClr val="A54719"/>
          </a:solidFill>
          <a:ln>
            <a:noFill/>
          </a:ln>
        </p:spPr>
      </p:sp>
      <p:sp>
        <p:nvSpPr>
          <p:cNvPr id="27" name="Object 27"/>
          <p:cNvSpPr txBox="1"/>
          <p:nvPr/>
        </p:nvSpPr>
        <p:spPr>
          <a:xfrm>
            <a:off x="579120" y="2926080"/>
            <a:ext cx="1303020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28000"/>
              </a:lnSpc>
              <a:spcAft>
                <a:spcPts val="0"/>
              </a:spcAft>
            </a:pPr>
            <a:r>
              <a:rPr lang="zh-CN" sz="1260" b="1">
                <a:solidFill>
                  <a:srgbClr val="15324F"/>
                </a:solidFill>
                <a:latin typeface="Microsoft YaHei"/>
                <a:ea typeface="Microsoft YaHei"/>
              </a:rPr>
              <a:t>精密光学</a:t>
            </a:r>
            <a:endParaRPr lang="zh-CN"/>
          </a:p>
          <a:p>
            <a:pPr>
              <a:lnSpc>
                <a:spcPct val="128000"/>
              </a:lnSpc>
              <a:spcAft>
                <a:spcPts val="0"/>
              </a:spcAft>
            </a:pPr>
            <a:r>
              <a:rPr lang="zh-CN" sz="1260" b="1">
                <a:solidFill>
                  <a:srgbClr val="15324F"/>
                </a:solidFill>
                <a:latin typeface="Microsoft YaHei"/>
                <a:ea typeface="Microsoft YaHei"/>
              </a:rPr>
              <a:t>+ UV 镀膜</a:t>
            </a:r>
            <a:endParaRPr lang="zh-CN"/>
          </a:p>
        </p:txBody>
      </p:sp>
      <p:sp>
        <p:nvSpPr>
          <p:cNvPr id="28" name="Object 28"/>
          <p:cNvSpPr txBox="1"/>
          <p:nvPr/>
        </p:nvSpPr>
        <p:spPr>
          <a:xfrm>
            <a:off x="2065020" y="2926080"/>
            <a:ext cx="1645920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28000"/>
              </a:lnSpc>
              <a:spcAft>
                <a:spcPts val="0"/>
              </a:spcAft>
            </a:pPr>
            <a:r>
              <a:rPr lang="zh-CN" sz="1260" b="0">
                <a:solidFill>
                  <a:srgbClr val="243746"/>
                </a:solidFill>
                <a:latin typeface="Microsoft YaHei"/>
                <a:ea typeface="Microsoft YaHei"/>
              </a:rPr>
              <a:t>面形、散射、基准</a:t>
            </a:r>
            <a:endParaRPr lang="zh-CN"/>
          </a:p>
          <a:p>
            <a:pPr>
              <a:lnSpc>
                <a:spcPct val="128000"/>
              </a:lnSpc>
              <a:spcAft>
                <a:spcPts val="0"/>
              </a:spcAft>
            </a:pPr>
            <a:r>
              <a:rPr lang="zh-CN" sz="1260" b="0">
                <a:solidFill>
                  <a:srgbClr val="243746"/>
                </a:solidFill>
                <a:latin typeface="Microsoft YaHei"/>
                <a:ea typeface="Microsoft YaHei"/>
              </a:rPr>
              <a:t>镀后及装配稳定</a:t>
            </a:r>
            <a:endParaRPr lang="zh-CN"/>
          </a:p>
        </p:txBody>
      </p:sp>
      <p:sp>
        <p:nvSpPr>
          <p:cNvPr id="29" name="Object 29"/>
          <p:cNvSpPr txBox="1"/>
          <p:nvPr/>
        </p:nvSpPr>
        <p:spPr>
          <a:xfrm>
            <a:off x="3893820" y="2926080"/>
            <a:ext cx="2255520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28000"/>
              </a:lnSpc>
              <a:spcAft>
                <a:spcPts val="0"/>
              </a:spcAft>
            </a:pPr>
            <a:r>
              <a:rPr lang="zh-CN" sz="1200" b="0">
                <a:solidFill>
                  <a:srgbClr val="243746"/>
                </a:solidFill>
                <a:latin typeface="Microsoft YaHei"/>
                <a:ea typeface="Microsoft YaHei"/>
              </a:rPr>
              <a:t>ZYGO / CASTECH</a:t>
            </a:r>
            <a:endParaRPr lang="zh-CN"/>
          </a:p>
          <a:p>
            <a:pPr>
              <a:lnSpc>
                <a:spcPct val="128000"/>
              </a:lnSpc>
              <a:spcAft>
                <a:spcPts val="0"/>
              </a:spcAft>
            </a:pPr>
            <a:r>
              <a:rPr lang="zh-CN" sz="1200" b="0">
                <a:solidFill>
                  <a:srgbClr val="243746"/>
                </a:solidFill>
                <a:latin typeface="Microsoft YaHei"/>
                <a:ea typeface="Microsoft YaHei"/>
              </a:rPr>
              <a:t>等定制候选</a:t>
            </a:r>
            <a:endParaRPr lang="zh-CN"/>
          </a:p>
        </p:txBody>
      </p:sp>
      <p:sp>
        <p:nvSpPr>
          <p:cNvPr id="30" name="Object 30"/>
          <p:cNvSpPr txBox="1"/>
          <p:nvPr/>
        </p:nvSpPr>
        <p:spPr>
          <a:xfrm>
            <a:off x="6332220" y="2926080"/>
            <a:ext cx="1569720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28000"/>
              </a:lnSpc>
              <a:spcAft>
                <a:spcPts val="0"/>
              </a:spcAft>
            </a:pPr>
            <a:r>
              <a:rPr lang="zh-CN" sz="1260" b="0">
                <a:solidFill>
                  <a:srgbClr val="243746"/>
                </a:solidFill>
                <a:latin typeface="Microsoft YaHei"/>
                <a:ea typeface="Microsoft YaHei"/>
              </a:rPr>
              <a:t>国内外有候选</a:t>
            </a:r>
            <a:endParaRPr lang="zh-CN"/>
          </a:p>
          <a:p>
            <a:pPr>
              <a:lnSpc>
                <a:spcPct val="128000"/>
              </a:lnSpc>
              <a:spcAft>
                <a:spcPts val="0"/>
              </a:spcAft>
            </a:pPr>
            <a:r>
              <a:rPr lang="zh-CN" sz="1260" b="0">
                <a:solidFill>
                  <a:srgbClr val="243746"/>
                </a:solidFill>
                <a:latin typeface="Microsoft YaHei"/>
                <a:ea typeface="Microsoft YaHei"/>
              </a:rPr>
              <a:t>组合精度待验证</a:t>
            </a:r>
            <a:endParaRPr lang="zh-CN"/>
          </a:p>
        </p:txBody>
      </p:sp>
      <p:sp>
        <p:nvSpPr>
          <p:cNvPr id="31" name="Object 31"/>
          <p:cNvSpPr txBox="1"/>
          <p:nvPr/>
        </p:nvSpPr>
        <p:spPr>
          <a:xfrm>
            <a:off x="8084820" y="2926080"/>
            <a:ext cx="2636520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28000"/>
              </a:lnSpc>
              <a:spcAft>
                <a:spcPts val="0"/>
              </a:spcAft>
            </a:pPr>
            <a:r>
              <a:rPr lang="zh-CN" sz="1260" b="0">
                <a:solidFill>
                  <a:srgbClr val="243746"/>
                </a:solidFill>
                <a:latin typeface="Microsoft YaHei"/>
                <a:ea typeface="Microsoft YaHei"/>
              </a:rPr>
              <a:t>加工—镀膜—检测—装调</a:t>
            </a:r>
            <a:endParaRPr lang="zh-CN"/>
          </a:p>
          <a:p>
            <a:pPr>
              <a:lnSpc>
                <a:spcPct val="128000"/>
              </a:lnSpc>
              <a:spcAft>
                <a:spcPts val="0"/>
              </a:spcAft>
            </a:pPr>
            <a:r>
              <a:rPr lang="zh-CN" sz="1260" b="0">
                <a:solidFill>
                  <a:srgbClr val="243746"/>
                </a:solidFill>
                <a:latin typeface="Microsoft YaHei"/>
                <a:ea typeface="Microsoft YaHei"/>
              </a:rPr>
              <a:t>返工影响研发排期</a:t>
            </a:r>
            <a:endParaRPr lang="zh-CN"/>
          </a:p>
        </p:txBody>
      </p:sp>
      <p:sp>
        <p:nvSpPr>
          <p:cNvPr id="32" name="Object 32"/>
          <p:cNvSpPr txBox="1"/>
          <p:nvPr/>
        </p:nvSpPr>
        <p:spPr>
          <a:xfrm>
            <a:off x="10896600" y="2903220"/>
            <a:ext cx="731520" cy="2362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28000"/>
              </a:lnSpc>
              <a:spcAft>
                <a:spcPts val="0"/>
              </a:spcAft>
            </a:pPr>
            <a:r>
              <a:rPr lang="zh-CN" sz="1380" b="1">
                <a:solidFill>
                  <a:srgbClr val="A54719"/>
                </a:solidFill>
                <a:latin typeface="Microsoft YaHei"/>
                <a:ea typeface="Microsoft YaHei"/>
              </a:rPr>
              <a:t>高</a:t>
            </a:r>
            <a:endParaRPr lang="zh-CN"/>
          </a:p>
        </p:txBody>
      </p:sp>
      <p:sp>
        <p:nvSpPr>
          <p:cNvPr id="33" name="Object 33"/>
          <p:cNvSpPr txBox="1"/>
          <p:nvPr/>
        </p:nvSpPr>
        <p:spPr>
          <a:xfrm>
            <a:off x="10858500" y="3185160"/>
            <a:ext cx="807720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28000"/>
              </a:lnSpc>
              <a:spcAft>
                <a:spcPts val="0"/>
              </a:spcAft>
            </a:pPr>
            <a:r>
              <a:rPr lang="zh-CN" sz="960" b="0">
                <a:solidFill>
                  <a:srgbClr val="586B7A"/>
                </a:solidFill>
                <a:latin typeface="Microsoft YaHei"/>
                <a:ea typeface="Microsoft YaHei"/>
              </a:rPr>
              <a:t>定制组合</a:t>
            </a:r>
            <a:endParaRPr lang="zh-CN"/>
          </a:p>
        </p:txBody>
      </p:sp>
      <p:sp>
        <p:nvSpPr>
          <p:cNvPr id="34" name="Object 34"/>
          <p:cNvSpPr/>
          <p:nvPr/>
        </p:nvSpPr>
        <p:spPr>
          <a:xfrm>
            <a:off x="487680" y="3474720"/>
            <a:ext cx="11216640" cy="7620"/>
          </a:xfrm>
          <a:prstGeom prst="rect">
            <a:avLst/>
          </a:prstGeom>
          <a:solidFill>
            <a:srgbClr val="D7E0E8"/>
          </a:solidFill>
          <a:ln>
            <a:noFill/>
          </a:ln>
        </p:spPr>
      </p:sp>
      <p:sp>
        <p:nvSpPr>
          <p:cNvPr id="35" name="Object 35"/>
          <p:cNvSpPr/>
          <p:nvPr/>
        </p:nvSpPr>
        <p:spPr>
          <a:xfrm>
            <a:off x="487680" y="3482340"/>
            <a:ext cx="11216640" cy="670560"/>
          </a:xfrm>
          <a:prstGeom prst="rect">
            <a:avLst/>
          </a:prstGeom>
          <a:solidFill>
            <a:srgbClr val="F4F7FA"/>
          </a:solidFill>
          <a:ln>
            <a:noFill/>
          </a:ln>
        </p:spPr>
      </p:sp>
      <p:sp>
        <p:nvSpPr>
          <p:cNvPr id="36" name="Object 36"/>
          <p:cNvSpPr/>
          <p:nvPr/>
        </p:nvSpPr>
        <p:spPr>
          <a:xfrm>
            <a:off x="487680" y="3482340"/>
            <a:ext cx="38100" cy="670560"/>
          </a:xfrm>
          <a:prstGeom prst="rect">
            <a:avLst/>
          </a:prstGeom>
          <a:solidFill>
            <a:srgbClr val="A54719"/>
          </a:solidFill>
          <a:ln>
            <a:noFill/>
          </a:ln>
        </p:spPr>
      </p:sp>
      <p:sp>
        <p:nvSpPr>
          <p:cNvPr id="37" name="Object 37"/>
          <p:cNvSpPr txBox="1"/>
          <p:nvPr/>
        </p:nvSpPr>
        <p:spPr>
          <a:xfrm>
            <a:off x="579120" y="3596640"/>
            <a:ext cx="1303020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28000"/>
              </a:lnSpc>
              <a:spcAft>
                <a:spcPts val="0"/>
              </a:spcAft>
            </a:pPr>
            <a:r>
              <a:rPr lang="zh-CN" sz="1260" b="1">
                <a:solidFill>
                  <a:srgbClr val="15324F"/>
                </a:solidFill>
                <a:latin typeface="Microsoft YaHei"/>
                <a:ea typeface="Microsoft YaHei"/>
              </a:rPr>
              <a:t>多区域</a:t>
            </a:r>
            <a:endParaRPr lang="zh-CN"/>
          </a:p>
          <a:p>
            <a:pPr>
              <a:lnSpc>
                <a:spcPct val="128000"/>
              </a:lnSpc>
              <a:spcAft>
                <a:spcPts val="0"/>
              </a:spcAft>
            </a:pPr>
            <a:r>
              <a:rPr lang="zh-CN" sz="1260" b="1">
                <a:solidFill>
                  <a:srgbClr val="15324F"/>
                </a:solidFill>
                <a:latin typeface="Microsoft YaHei"/>
                <a:ea typeface="Microsoft YaHei"/>
              </a:rPr>
              <a:t>精密光栅</a:t>
            </a:r>
            <a:endParaRPr lang="zh-CN"/>
          </a:p>
        </p:txBody>
      </p:sp>
      <p:sp>
        <p:nvSpPr>
          <p:cNvPr id="38" name="Object 38"/>
          <p:cNvSpPr txBox="1"/>
          <p:nvPr/>
        </p:nvSpPr>
        <p:spPr>
          <a:xfrm>
            <a:off x="2065020" y="3596640"/>
            <a:ext cx="1645920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28000"/>
              </a:lnSpc>
              <a:spcAft>
                <a:spcPts val="0"/>
              </a:spcAft>
            </a:pPr>
            <a:r>
              <a:rPr lang="zh-CN" sz="1260" b="0">
                <a:solidFill>
                  <a:srgbClr val="243746"/>
                </a:solidFill>
                <a:latin typeface="Microsoft YaHei"/>
                <a:ea typeface="Microsoft YaHei"/>
              </a:rPr>
              <a:t>周期、占空比、位置</a:t>
            </a:r>
            <a:endParaRPr lang="zh-CN"/>
          </a:p>
          <a:p>
            <a:pPr>
              <a:lnSpc>
                <a:spcPct val="128000"/>
              </a:lnSpc>
              <a:spcAft>
                <a:spcPts val="0"/>
              </a:spcAft>
            </a:pPr>
            <a:r>
              <a:rPr lang="zh-CN" sz="1260" b="0">
                <a:solidFill>
                  <a:srgbClr val="243746"/>
                </a:solidFill>
                <a:latin typeface="Microsoft YaHei"/>
                <a:ea typeface="Microsoft YaHei"/>
              </a:rPr>
              <a:t>缺陷与全幅一致性</a:t>
            </a:r>
            <a:endParaRPr lang="zh-CN"/>
          </a:p>
        </p:txBody>
      </p:sp>
      <p:sp>
        <p:nvSpPr>
          <p:cNvPr id="39" name="Object 39"/>
          <p:cNvSpPr txBox="1"/>
          <p:nvPr/>
        </p:nvSpPr>
        <p:spPr>
          <a:xfrm>
            <a:off x="3893820" y="3596640"/>
            <a:ext cx="2255520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28000"/>
              </a:lnSpc>
              <a:spcAft>
                <a:spcPts val="0"/>
              </a:spcAft>
            </a:pPr>
            <a:r>
              <a:rPr lang="zh-CN" sz="1200" b="0">
                <a:solidFill>
                  <a:srgbClr val="243746"/>
                </a:solidFill>
                <a:latin typeface="Microsoft YaHei"/>
                <a:ea typeface="Microsoft YaHei"/>
              </a:rPr>
              <a:t>APPLIED IMAGE / 清溢</a:t>
            </a:r>
            <a:endParaRPr lang="zh-CN"/>
          </a:p>
          <a:p>
            <a:pPr>
              <a:lnSpc>
                <a:spcPct val="128000"/>
              </a:lnSpc>
              <a:spcAft>
                <a:spcPts val="0"/>
              </a:spcAft>
            </a:pPr>
            <a:r>
              <a:rPr lang="zh-CN" sz="1200" b="0">
                <a:solidFill>
                  <a:srgbClr val="243746"/>
                </a:solidFill>
                <a:latin typeface="Microsoft YaHei"/>
                <a:ea typeface="Microsoft YaHei"/>
              </a:rPr>
              <a:t>功能首件尚待确认</a:t>
            </a:r>
            <a:endParaRPr lang="zh-CN"/>
          </a:p>
        </p:txBody>
      </p:sp>
      <p:sp>
        <p:nvSpPr>
          <p:cNvPr id="40" name="Object 40"/>
          <p:cNvSpPr txBox="1"/>
          <p:nvPr/>
        </p:nvSpPr>
        <p:spPr>
          <a:xfrm>
            <a:off x="6332220" y="3596640"/>
            <a:ext cx="1569720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28000"/>
              </a:lnSpc>
              <a:spcAft>
                <a:spcPts val="0"/>
              </a:spcAft>
            </a:pPr>
            <a:r>
              <a:rPr lang="zh-CN" sz="1260" b="0">
                <a:solidFill>
                  <a:srgbClr val="243746"/>
                </a:solidFill>
                <a:latin typeface="Microsoft YaHei"/>
                <a:ea typeface="Microsoft YaHei"/>
              </a:rPr>
              <a:t>有加工路线</a:t>
            </a:r>
            <a:endParaRPr lang="zh-CN"/>
          </a:p>
          <a:p>
            <a:pPr>
              <a:lnSpc>
                <a:spcPct val="128000"/>
              </a:lnSpc>
              <a:spcAft>
                <a:spcPts val="0"/>
              </a:spcAft>
            </a:pPr>
            <a:r>
              <a:rPr lang="zh-CN" sz="1260" b="0">
                <a:solidFill>
                  <a:srgbClr val="243746"/>
                </a:solidFill>
                <a:latin typeface="Microsoft YaHei"/>
                <a:ea typeface="Microsoft YaHei"/>
              </a:rPr>
              <a:t>功能验收待完成</a:t>
            </a:r>
            <a:endParaRPr lang="zh-CN"/>
          </a:p>
        </p:txBody>
      </p:sp>
      <p:sp>
        <p:nvSpPr>
          <p:cNvPr id="41" name="Object 41"/>
          <p:cNvSpPr txBox="1"/>
          <p:nvPr/>
        </p:nvSpPr>
        <p:spPr>
          <a:xfrm>
            <a:off x="8084820" y="3596640"/>
            <a:ext cx="2636520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28000"/>
              </a:lnSpc>
              <a:spcAft>
                <a:spcPts val="0"/>
              </a:spcAft>
            </a:pPr>
            <a:r>
              <a:rPr lang="zh-CN" sz="1260" b="0">
                <a:solidFill>
                  <a:srgbClr val="243746"/>
                </a:solidFill>
                <a:latin typeface="Microsoft YaHei"/>
                <a:ea typeface="Microsoft YaHei"/>
              </a:rPr>
              <a:t>母版、全幅与批次响应</a:t>
            </a:r>
            <a:endParaRPr lang="zh-CN"/>
          </a:p>
          <a:p>
            <a:pPr>
              <a:lnSpc>
                <a:spcPct val="128000"/>
              </a:lnSpc>
              <a:spcAft>
                <a:spcPts val="0"/>
              </a:spcAft>
            </a:pPr>
            <a:r>
              <a:rPr lang="zh-CN" sz="1260" b="0">
                <a:solidFill>
                  <a:srgbClr val="243746"/>
                </a:solidFill>
                <a:latin typeface="Microsoft YaHei"/>
                <a:ea typeface="Microsoft YaHei"/>
              </a:rPr>
              <a:t>换厂后重新标定</a:t>
            </a:r>
            <a:endParaRPr lang="zh-CN"/>
          </a:p>
        </p:txBody>
      </p:sp>
      <p:sp>
        <p:nvSpPr>
          <p:cNvPr id="42" name="Object 42"/>
          <p:cNvSpPr txBox="1"/>
          <p:nvPr/>
        </p:nvSpPr>
        <p:spPr>
          <a:xfrm>
            <a:off x="10896600" y="3573780"/>
            <a:ext cx="731520" cy="2362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28000"/>
              </a:lnSpc>
              <a:spcAft>
                <a:spcPts val="0"/>
              </a:spcAft>
            </a:pPr>
            <a:r>
              <a:rPr lang="zh-CN" sz="1380" b="1">
                <a:solidFill>
                  <a:srgbClr val="A54719"/>
                </a:solidFill>
                <a:latin typeface="Microsoft YaHei"/>
                <a:ea typeface="Microsoft YaHei"/>
              </a:rPr>
              <a:t>高</a:t>
            </a:r>
            <a:endParaRPr lang="zh-CN"/>
          </a:p>
        </p:txBody>
      </p:sp>
      <p:sp>
        <p:nvSpPr>
          <p:cNvPr id="43" name="Object 43"/>
          <p:cNvSpPr txBox="1"/>
          <p:nvPr/>
        </p:nvSpPr>
        <p:spPr>
          <a:xfrm>
            <a:off x="10858500" y="3855720"/>
            <a:ext cx="807720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28000"/>
              </a:lnSpc>
              <a:spcAft>
                <a:spcPts val="0"/>
              </a:spcAft>
            </a:pPr>
            <a:r>
              <a:rPr lang="zh-CN" sz="960" b="0">
                <a:solidFill>
                  <a:srgbClr val="586B7A"/>
                </a:solidFill>
                <a:latin typeface="Microsoft YaHei"/>
                <a:ea typeface="Microsoft YaHei"/>
              </a:rPr>
              <a:t>多区域定制</a:t>
            </a:r>
            <a:endParaRPr lang="zh-CN"/>
          </a:p>
        </p:txBody>
      </p:sp>
      <p:sp>
        <p:nvSpPr>
          <p:cNvPr id="44" name="Object 44"/>
          <p:cNvSpPr/>
          <p:nvPr/>
        </p:nvSpPr>
        <p:spPr>
          <a:xfrm>
            <a:off x="487680" y="4145280"/>
            <a:ext cx="11216640" cy="7620"/>
          </a:xfrm>
          <a:prstGeom prst="rect">
            <a:avLst/>
          </a:prstGeom>
          <a:solidFill>
            <a:srgbClr val="D7E0E8"/>
          </a:solidFill>
          <a:ln>
            <a:noFill/>
          </a:ln>
        </p:spPr>
      </p:sp>
      <p:sp>
        <p:nvSpPr>
          <p:cNvPr id="45" name="Object 45"/>
          <p:cNvSpPr/>
          <p:nvPr/>
        </p:nvSpPr>
        <p:spPr>
          <a:xfrm>
            <a:off x="487680" y="4152900"/>
            <a:ext cx="11216640" cy="67056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46" name="Object 46"/>
          <p:cNvSpPr/>
          <p:nvPr/>
        </p:nvSpPr>
        <p:spPr>
          <a:xfrm>
            <a:off x="487680" y="4152900"/>
            <a:ext cx="38100" cy="670560"/>
          </a:xfrm>
          <a:prstGeom prst="rect">
            <a:avLst/>
          </a:prstGeom>
          <a:solidFill>
            <a:srgbClr val="956522"/>
          </a:solidFill>
          <a:ln>
            <a:noFill/>
          </a:ln>
        </p:spPr>
      </p:sp>
      <p:sp>
        <p:nvSpPr>
          <p:cNvPr id="47" name="Object 47"/>
          <p:cNvSpPr txBox="1"/>
          <p:nvPr/>
        </p:nvSpPr>
        <p:spPr>
          <a:xfrm>
            <a:off x="579120" y="4267200"/>
            <a:ext cx="1303020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28000"/>
              </a:lnSpc>
              <a:spcAft>
                <a:spcPts val="0"/>
              </a:spcAft>
            </a:pPr>
            <a:r>
              <a:rPr lang="zh-CN" sz="1260" b="1">
                <a:solidFill>
                  <a:srgbClr val="15324F"/>
                </a:solidFill>
                <a:latin typeface="Microsoft YaHei"/>
                <a:ea typeface="Microsoft YaHei"/>
              </a:rPr>
              <a:t>UV 探测</a:t>
            </a:r>
            <a:endParaRPr lang="zh-CN"/>
          </a:p>
          <a:p>
            <a:pPr>
              <a:lnSpc>
                <a:spcPct val="128000"/>
              </a:lnSpc>
              <a:spcAft>
                <a:spcPts val="0"/>
              </a:spcAft>
            </a:pPr>
            <a:r>
              <a:rPr lang="zh-CN" sz="1260" b="1">
                <a:solidFill>
                  <a:srgbClr val="15324F"/>
                </a:solidFill>
                <a:latin typeface="Microsoft YaHei"/>
                <a:ea typeface="Microsoft YaHei"/>
              </a:rPr>
              <a:t>与电子学</a:t>
            </a:r>
            <a:endParaRPr lang="zh-CN"/>
          </a:p>
        </p:txBody>
      </p:sp>
      <p:sp>
        <p:nvSpPr>
          <p:cNvPr id="48" name="Object 48"/>
          <p:cNvSpPr txBox="1"/>
          <p:nvPr/>
        </p:nvSpPr>
        <p:spPr>
          <a:xfrm>
            <a:off x="2065020" y="4267200"/>
            <a:ext cx="1645920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28000"/>
              </a:lnSpc>
              <a:spcAft>
                <a:spcPts val="0"/>
              </a:spcAft>
            </a:pPr>
            <a:r>
              <a:rPr lang="zh-CN" sz="1260" b="0">
                <a:solidFill>
                  <a:srgbClr val="243746"/>
                </a:solidFill>
                <a:latin typeface="Microsoft YaHei"/>
                <a:ea typeface="Microsoft YaHei"/>
              </a:rPr>
              <a:t>UV响应、低噪声</a:t>
            </a:r>
            <a:endParaRPr lang="zh-CN"/>
          </a:p>
          <a:p>
            <a:pPr>
              <a:lnSpc>
                <a:spcPct val="128000"/>
              </a:lnSpc>
              <a:spcAft>
                <a:spcPts val="0"/>
              </a:spcAft>
            </a:pPr>
            <a:r>
              <a:rPr lang="zh-CN" sz="1260" b="0">
                <a:solidFill>
                  <a:srgbClr val="243746"/>
                </a:solidFill>
                <a:latin typeface="Microsoft YaHei"/>
                <a:ea typeface="Microsoft YaHei"/>
              </a:rPr>
              <a:t>多通道同步</a:t>
            </a:r>
            <a:endParaRPr lang="zh-CN"/>
          </a:p>
        </p:txBody>
      </p:sp>
      <p:sp>
        <p:nvSpPr>
          <p:cNvPr id="49" name="Object 49"/>
          <p:cNvSpPr txBox="1"/>
          <p:nvPr/>
        </p:nvSpPr>
        <p:spPr>
          <a:xfrm>
            <a:off x="3893820" y="4267200"/>
            <a:ext cx="2255520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28000"/>
              </a:lnSpc>
              <a:spcAft>
                <a:spcPts val="0"/>
              </a:spcAft>
            </a:pPr>
            <a:r>
              <a:rPr lang="zh-CN" sz="1200" b="0">
                <a:solidFill>
                  <a:srgbClr val="243746"/>
                </a:solidFill>
                <a:latin typeface="Microsoft YaHei"/>
                <a:ea typeface="Microsoft YaHei"/>
              </a:rPr>
              <a:t>Hamamatsu / TI / ADI</a:t>
            </a:r>
            <a:endParaRPr lang="zh-CN"/>
          </a:p>
          <a:p>
            <a:pPr>
              <a:lnSpc>
                <a:spcPct val="128000"/>
              </a:lnSpc>
              <a:spcAft>
                <a:spcPts val="0"/>
              </a:spcAft>
            </a:pPr>
            <a:r>
              <a:rPr lang="zh-CN" sz="1200" b="0">
                <a:solidFill>
                  <a:srgbClr val="243746"/>
                </a:solidFill>
                <a:latin typeface="Microsoft YaHei"/>
                <a:ea typeface="Microsoft YaHei"/>
              </a:rPr>
              <a:t>Gpixel：阵列技术候选</a:t>
            </a:r>
            <a:endParaRPr lang="zh-CN"/>
          </a:p>
        </p:txBody>
      </p:sp>
      <p:sp>
        <p:nvSpPr>
          <p:cNvPr id="50" name="Object 50"/>
          <p:cNvSpPr txBox="1"/>
          <p:nvPr/>
        </p:nvSpPr>
        <p:spPr>
          <a:xfrm>
            <a:off x="6332220" y="4267200"/>
            <a:ext cx="1569720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28000"/>
              </a:lnSpc>
              <a:spcAft>
                <a:spcPts val="0"/>
              </a:spcAft>
            </a:pPr>
            <a:r>
              <a:rPr lang="zh-CN" sz="1260" b="0">
                <a:solidFill>
                  <a:srgbClr val="243746"/>
                </a:solidFill>
                <a:latin typeface="Microsoft YaHei"/>
                <a:ea typeface="Microsoft YaHei"/>
              </a:rPr>
              <a:t>通用电子成熟</a:t>
            </a:r>
            <a:endParaRPr lang="zh-CN"/>
          </a:p>
          <a:p>
            <a:pPr>
              <a:lnSpc>
                <a:spcPct val="128000"/>
              </a:lnSpc>
              <a:spcAft>
                <a:spcPts val="0"/>
              </a:spcAft>
            </a:pPr>
            <a:r>
              <a:rPr lang="zh-CN" sz="1260" b="0">
                <a:solidFill>
                  <a:srgbClr val="243746"/>
                </a:solidFill>
                <a:latin typeface="Microsoft YaHei"/>
                <a:ea typeface="Microsoft YaHei"/>
              </a:rPr>
              <a:t>UV专用供货待核</a:t>
            </a:r>
            <a:endParaRPr lang="zh-CN"/>
          </a:p>
        </p:txBody>
      </p:sp>
      <p:sp>
        <p:nvSpPr>
          <p:cNvPr id="51" name="Object 51"/>
          <p:cNvSpPr txBox="1"/>
          <p:nvPr/>
        </p:nvSpPr>
        <p:spPr>
          <a:xfrm>
            <a:off x="8084820" y="4267200"/>
            <a:ext cx="2636520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28000"/>
              </a:lnSpc>
              <a:spcAft>
                <a:spcPts val="0"/>
              </a:spcAft>
            </a:pPr>
            <a:r>
              <a:rPr lang="zh-CN" sz="1260" b="0">
                <a:solidFill>
                  <a:srgbClr val="243746"/>
                </a:solidFill>
                <a:latin typeface="Microsoft YaHei"/>
                <a:ea typeface="Microsoft YaHei"/>
              </a:rPr>
              <a:t>封装与专用品适配</a:t>
            </a:r>
            <a:endParaRPr lang="zh-CN"/>
          </a:p>
          <a:p>
            <a:pPr>
              <a:lnSpc>
                <a:spcPct val="128000"/>
              </a:lnSpc>
              <a:spcAft>
                <a:spcPts val="0"/>
              </a:spcAft>
            </a:pPr>
            <a:r>
              <a:rPr lang="zh-CN" sz="1260" b="0">
                <a:solidFill>
                  <a:srgbClr val="243746"/>
                </a:solidFill>
                <a:latin typeface="Microsoft YaHei"/>
                <a:ea typeface="Microsoft YaHei"/>
              </a:rPr>
              <a:t>阵列仅在选定架构使用</a:t>
            </a:r>
            <a:endParaRPr lang="zh-CN"/>
          </a:p>
        </p:txBody>
      </p:sp>
      <p:sp>
        <p:nvSpPr>
          <p:cNvPr id="52" name="Object 52"/>
          <p:cNvSpPr txBox="1"/>
          <p:nvPr/>
        </p:nvSpPr>
        <p:spPr>
          <a:xfrm>
            <a:off x="10896600" y="4244340"/>
            <a:ext cx="731520" cy="2362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28000"/>
              </a:lnSpc>
              <a:spcAft>
                <a:spcPts val="0"/>
              </a:spcAft>
            </a:pPr>
            <a:r>
              <a:rPr lang="zh-CN" sz="1380" b="1">
                <a:solidFill>
                  <a:srgbClr val="956522"/>
                </a:solidFill>
                <a:latin typeface="Microsoft YaHei"/>
                <a:ea typeface="Microsoft YaHei"/>
              </a:rPr>
              <a:t>中–高</a:t>
            </a:r>
            <a:endParaRPr lang="zh-CN"/>
          </a:p>
        </p:txBody>
      </p:sp>
      <p:sp>
        <p:nvSpPr>
          <p:cNvPr id="53" name="Object 53"/>
          <p:cNvSpPr txBox="1"/>
          <p:nvPr/>
        </p:nvSpPr>
        <p:spPr>
          <a:xfrm>
            <a:off x="10858500" y="4526280"/>
            <a:ext cx="807720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28000"/>
              </a:lnSpc>
              <a:spcAft>
                <a:spcPts val="0"/>
              </a:spcAft>
            </a:pPr>
            <a:r>
              <a:rPr lang="zh-CN" sz="960" b="0">
                <a:solidFill>
                  <a:srgbClr val="586B7A"/>
                </a:solidFill>
                <a:latin typeface="Microsoft YaHei"/>
                <a:ea typeface="Microsoft YaHei"/>
              </a:rPr>
              <a:t>通用中</a:t>
            </a:r>
            <a:endParaRPr lang="zh-CN"/>
          </a:p>
          <a:p>
            <a:pPr>
              <a:lnSpc>
                <a:spcPct val="128000"/>
              </a:lnSpc>
              <a:spcAft>
                <a:spcPts val="0"/>
              </a:spcAft>
            </a:pPr>
            <a:r>
              <a:rPr lang="zh-CN" sz="960" b="0">
                <a:solidFill>
                  <a:srgbClr val="586B7A"/>
                </a:solidFill>
                <a:latin typeface="Microsoft YaHei"/>
                <a:ea typeface="Microsoft YaHei"/>
              </a:rPr>
              <a:t>阵列高</a:t>
            </a:r>
            <a:endParaRPr lang="zh-CN"/>
          </a:p>
        </p:txBody>
      </p:sp>
      <p:sp>
        <p:nvSpPr>
          <p:cNvPr id="54" name="Object 54"/>
          <p:cNvSpPr/>
          <p:nvPr/>
        </p:nvSpPr>
        <p:spPr>
          <a:xfrm>
            <a:off x="487680" y="4815840"/>
            <a:ext cx="11216640" cy="7620"/>
          </a:xfrm>
          <a:prstGeom prst="rect">
            <a:avLst/>
          </a:prstGeom>
          <a:solidFill>
            <a:srgbClr val="D7E0E8"/>
          </a:solidFill>
          <a:ln>
            <a:noFill/>
          </a:ln>
        </p:spPr>
      </p:sp>
      <p:sp>
        <p:nvSpPr>
          <p:cNvPr id="55" name="Object 55"/>
          <p:cNvSpPr/>
          <p:nvPr/>
        </p:nvSpPr>
        <p:spPr>
          <a:xfrm>
            <a:off x="487680" y="4823460"/>
            <a:ext cx="11216640" cy="670560"/>
          </a:xfrm>
          <a:prstGeom prst="rect">
            <a:avLst/>
          </a:prstGeom>
          <a:solidFill>
            <a:srgbClr val="F4F7FA"/>
          </a:solidFill>
          <a:ln>
            <a:noFill/>
          </a:ln>
        </p:spPr>
      </p:sp>
      <p:sp>
        <p:nvSpPr>
          <p:cNvPr id="56" name="Object 56"/>
          <p:cNvSpPr/>
          <p:nvPr/>
        </p:nvSpPr>
        <p:spPr>
          <a:xfrm>
            <a:off x="487680" y="4823460"/>
            <a:ext cx="38100" cy="670560"/>
          </a:xfrm>
          <a:prstGeom prst="rect">
            <a:avLst/>
          </a:prstGeom>
          <a:solidFill>
            <a:srgbClr val="956522"/>
          </a:solidFill>
          <a:ln>
            <a:noFill/>
          </a:ln>
        </p:spPr>
      </p:sp>
      <p:sp>
        <p:nvSpPr>
          <p:cNvPr id="57" name="Object 57"/>
          <p:cNvSpPr txBox="1"/>
          <p:nvPr/>
        </p:nvSpPr>
        <p:spPr>
          <a:xfrm>
            <a:off x="579120" y="4937760"/>
            <a:ext cx="1303020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28000"/>
              </a:lnSpc>
              <a:spcAft>
                <a:spcPts val="0"/>
              </a:spcAft>
            </a:pPr>
            <a:r>
              <a:rPr lang="zh-CN" sz="1260" b="1">
                <a:solidFill>
                  <a:srgbClr val="15324F"/>
                </a:solidFill>
                <a:latin typeface="Microsoft YaHei"/>
                <a:ea typeface="Microsoft YaHei"/>
              </a:rPr>
              <a:t>特殊分光 / 偏振</a:t>
            </a:r>
            <a:endParaRPr lang="zh-CN"/>
          </a:p>
          <a:p>
            <a:pPr>
              <a:lnSpc>
                <a:spcPct val="128000"/>
              </a:lnSpc>
              <a:spcAft>
                <a:spcPts val="0"/>
              </a:spcAft>
            </a:pPr>
            <a:r>
              <a:rPr lang="zh-CN" sz="1260" b="1">
                <a:solidFill>
                  <a:srgbClr val="15324F"/>
                </a:solidFill>
                <a:latin typeface="Microsoft YaHei"/>
                <a:ea typeface="Microsoft YaHei"/>
              </a:rPr>
              <a:t>光纤 / 精密结构</a:t>
            </a:r>
            <a:endParaRPr lang="zh-CN"/>
          </a:p>
        </p:txBody>
      </p:sp>
      <p:sp>
        <p:nvSpPr>
          <p:cNvPr id="58" name="Object 58"/>
          <p:cNvSpPr txBox="1"/>
          <p:nvPr/>
        </p:nvSpPr>
        <p:spPr>
          <a:xfrm>
            <a:off x="2065020" y="4937760"/>
            <a:ext cx="1645920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28000"/>
              </a:lnSpc>
              <a:spcAft>
                <a:spcPts val="0"/>
              </a:spcAft>
            </a:pPr>
            <a:r>
              <a:rPr lang="zh-CN" sz="1260" b="0">
                <a:solidFill>
                  <a:srgbClr val="243746"/>
                </a:solidFill>
                <a:latin typeface="Microsoft YaHei"/>
                <a:ea typeface="Microsoft YaHei"/>
              </a:rPr>
              <a:t>波段、偏振、杂光</a:t>
            </a:r>
            <a:endParaRPr lang="zh-CN"/>
          </a:p>
          <a:p>
            <a:pPr>
              <a:lnSpc>
                <a:spcPct val="128000"/>
              </a:lnSpc>
              <a:spcAft>
                <a:spcPts val="0"/>
              </a:spcAft>
            </a:pPr>
            <a:r>
              <a:rPr lang="zh-CN" sz="1260" b="0">
                <a:solidFill>
                  <a:srgbClr val="243746"/>
                </a:solidFill>
                <a:latin typeface="Microsoft YaHei"/>
                <a:ea typeface="Microsoft YaHei"/>
              </a:rPr>
              <a:t>热稳与机械稳定</a:t>
            </a:r>
            <a:endParaRPr lang="zh-CN"/>
          </a:p>
        </p:txBody>
      </p:sp>
      <p:sp>
        <p:nvSpPr>
          <p:cNvPr id="59" name="Object 59"/>
          <p:cNvSpPr txBox="1"/>
          <p:nvPr/>
        </p:nvSpPr>
        <p:spPr>
          <a:xfrm>
            <a:off x="3893820" y="4937760"/>
            <a:ext cx="2255520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28000"/>
              </a:lnSpc>
              <a:spcAft>
                <a:spcPts val="0"/>
              </a:spcAft>
            </a:pPr>
            <a:r>
              <a:rPr lang="zh-CN" sz="1200" b="0">
                <a:solidFill>
                  <a:srgbClr val="243746"/>
                </a:solidFill>
                <a:latin typeface="Microsoft YaHei"/>
                <a:ea typeface="Microsoft YaHei"/>
              </a:rPr>
              <a:t>CASTECH / Thorlabs等</a:t>
            </a:r>
            <a:endParaRPr lang="zh-CN"/>
          </a:p>
          <a:p>
            <a:pPr>
              <a:lnSpc>
                <a:spcPct val="128000"/>
              </a:lnSpc>
              <a:spcAft>
                <a:spcPts val="0"/>
              </a:spcAft>
            </a:pPr>
            <a:r>
              <a:rPr lang="zh-CN" sz="1200" b="0">
                <a:solidFill>
                  <a:srgbClr val="243746"/>
                </a:solidFill>
                <a:latin typeface="Microsoft YaHei"/>
                <a:ea typeface="Microsoft YaHei"/>
              </a:rPr>
              <a:t>结构件按图纸评审</a:t>
            </a:r>
            <a:endParaRPr lang="zh-CN"/>
          </a:p>
        </p:txBody>
      </p:sp>
      <p:sp>
        <p:nvSpPr>
          <p:cNvPr id="60" name="Object 60"/>
          <p:cNvSpPr txBox="1"/>
          <p:nvPr/>
        </p:nvSpPr>
        <p:spPr>
          <a:xfrm>
            <a:off x="6332220" y="4937760"/>
            <a:ext cx="1569720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28000"/>
              </a:lnSpc>
              <a:spcAft>
                <a:spcPts val="0"/>
              </a:spcAft>
            </a:pPr>
            <a:r>
              <a:rPr lang="zh-CN" sz="1260" b="0">
                <a:solidFill>
                  <a:srgbClr val="243746"/>
                </a:solidFill>
                <a:latin typeface="Microsoft YaHei"/>
                <a:ea typeface="Microsoft YaHei"/>
              </a:rPr>
              <a:t>有加工基础</a:t>
            </a:r>
            <a:endParaRPr lang="zh-CN"/>
          </a:p>
          <a:p>
            <a:pPr>
              <a:lnSpc>
                <a:spcPct val="128000"/>
              </a:lnSpc>
              <a:spcAft>
                <a:spcPts val="0"/>
              </a:spcAft>
            </a:pPr>
            <a:r>
              <a:rPr lang="zh-CN" sz="1260" b="0">
                <a:solidFill>
                  <a:srgbClr val="243746"/>
                </a:solidFill>
                <a:latin typeface="Microsoft YaHei"/>
                <a:ea typeface="Microsoft YaHei"/>
              </a:rPr>
              <a:t>组合性能待验证</a:t>
            </a:r>
            <a:endParaRPr lang="zh-CN"/>
          </a:p>
        </p:txBody>
      </p:sp>
      <p:sp>
        <p:nvSpPr>
          <p:cNvPr id="61" name="Object 61"/>
          <p:cNvSpPr txBox="1"/>
          <p:nvPr/>
        </p:nvSpPr>
        <p:spPr>
          <a:xfrm>
            <a:off x="8084820" y="4937760"/>
            <a:ext cx="2636520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28000"/>
              </a:lnSpc>
              <a:spcAft>
                <a:spcPts val="0"/>
              </a:spcAft>
            </a:pPr>
            <a:r>
              <a:rPr lang="zh-CN" sz="1260" b="0">
                <a:solidFill>
                  <a:srgbClr val="243746"/>
                </a:solidFill>
                <a:latin typeface="Microsoft YaHei"/>
                <a:ea typeface="Microsoft YaHei"/>
              </a:rPr>
              <a:t>多参数组合降低替代性</a:t>
            </a:r>
            <a:endParaRPr lang="zh-CN"/>
          </a:p>
          <a:p>
            <a:pPr>
              <a:lnSpc>
                <a:spcPct val="128000"/>
              </a:lnSpc>
              <a:spcAft>
                <a:spcPts val="0"/>
              </a:spcAft>
            </a:pPr>
            <a:r>
              <a:rPr lang="zh-CN" sz="1260" b="0">
                <a:solidFill>
                  <a:srgbClr val="243746"/>
                </a:solidFill>
                <a:latin typeface="Microsoft YaHei"/>
                <a:ea typeface="Microsoft YaHei"/>
              </a:rPr>
              <a:t>精密基准需装机复验</a:t>
            </a:r>
            <a:endParaRPr lang="zh-CN"/>
          </a:p>
        </p:txBody>
      </p:sp>
      <p:sp>
        <p:nvSpPr>
          <p:cNvPr id="62" name="Object 62"/>
          <p:cNvSpPr txBox="1"/>
          <p:nvPr/>
        </p:nvSpPr>
        <p:spPr>
          <a:xfrm>
            <a:off x="10896600" y="4914900"/>
            <a:ext cx="731520" cy="2362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28000"/>
              </a:lnSpc>
              <a:spcAft>
                <a:spcPts val="0"/>
              </a:spcAft>
            </a:pPr>
            <a:r>
              <a:rPr lang="zh-CN" sz="1380" b="1">
                <a:solidFill>
                  <a:srgbClr val="956522"/>
                </a:solidFill>
                <a:latin typeface="Microsoft YaHei"/>
                <a:ea typeface="Microsoft YaHei"/>
              </a:rPr>
              <a:t>中–高</a:t>
            </a:r>
            <a:endParaRPr lang="zh-CN"/>
          </a:p>
        </p:txBody>
      </p:sp>
      <p:sp>
        <p:nvSpPr>
          <p:cNvPr id="63" name="Object 63"/>
          <p:cNvSpPr txBox="1"/>
          <p:nvPr/>
        </p:nvSpPr>
        <p:spPr>
          <a:xfrm>
            <a:off x="10858500" y="5196840"/>
            <a:ext cx="807720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28000"/>
              </a:lnSpc>
              <a:spcAft>
                <a:spcPts val="0"/>
              </a:spcAft>
            </a:pPr>
            <a:r>
              <a:rPr lang="zh-CN" sz="960" b="0">
                <a:solidFill>
                  <a:srgbClr val="586B7A"/>
                </a:solidFill>
                <a:latin typeface="Microsoft YaHei"/>
                <a:ea typeface="Microsoft YaHei"/>
              </a:rPr>
              <a:t>光纤中</a:t>
            </a:r>
            <a:endParaRPr lang="zh-CN"/>
          </a:p>
          <a:p>
            <a:pPr>
              <a:lnSpc>
                <a:spcPct val="128000"/>
              </a:lnSpc>
              <a:spcAft>
                <a:spcPts val="0"/>
              </a:spcAft>
            </a:pPr>
            <a:r>
              <a:rPr lang="zh-CN" sz="960" b="0">
                <a:solidFill>
                  <a:srgbClr val="586B7A"/>
                </a:solidFill>
                <a:latin typeface="Microsoft YaHei"/>
                <a:ea typeface="Microsoft YaHei"/>
              </a:rPr>
              <a:t>定制高</a:t>
            </a:r>
            <a:endParaRPr lang="zh-CN"/>
          </a:p>
        </p:txBody>
      </p:sp>
      <p:sp>
        <p:nvSpPr>
          <p:cNvPr id="64" name="Object 64"/>
          <p:cNvSpPr/>
          <p:nvPr/>
        </p:nvSpPr>
        <p:spPr>
          <a:xfrm>
            <a:off x="487680" y="5486400"/>
            <a:ext cx="11216640" cy="7620"/>
          </a:xfrm>
          <a:prstGeom prst="rect">
            <a:avLst/>
          </a:prstGeom>
          <a:solidFill>
            <a:srgbClr val="D7E0E8"/>
          </a:solidFill>
          <a:ln>
            <a:noFill/>
          </a:ln>
        </p:spPr>
      </p:sp>
      <p:sp>
        <p:nvSpPr>
          <p:cNvPr id="65" name="Object 65"/>
          <p:cNvSpPr txBox="1"/>
          <p:nvPr/>
        </p:nvSpPr>
        <p:spPr>
          <a:xfrm>
            <a:off x="487680" y="5669280"/>
            <a:ext cx="11216640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28000"/>
              </a:lnSpc>
              <a:spcAft>
                <a:spcPts val="0"/>
              </a:spcAft>
            </a:pPr>
            <a:r>
              <a:rPr lang="zh-CN" sz="1380" b="1">
                <a:solidFill>
                  <a:srgbClr val="15324F"/>
                </a:solidFill>
                <a:latin typeface="Microsoft YaHei"/>
                <a:ea typeface="Microsoft YaHei"/>
              </a:rPr>
              <a:t>采购动作</a:t>
            </a:r>
            <a:endParaRPr lang="zh-CN"/>
          </a:p>
        </p:txBody>
      </p:sp>
      <p:sp>
        <p:nvSpPr>
          <p:cNvPr id="66" name="Object 66"/>
          <p:cNvSpPr txBox="1"/>
          <p:nvPr/>
        </p:nvSpPr>
        <p:spPr>
          <a:xfrm>
            <a:off x="1554480" y="5684520"/>
            <a:ext cx="2743200" cy="2514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28000"/>
              </a:lnSpc>
              <a:spcAft>
                <a:spcPts val="0"/>
              </a:spcAft>
            </a:pPr>
            <a:r>
              <a:rPr lang="zh-CN" sz="1320" b="1">
                <a:solidFill>
                  <a:srgbClr val="2166A5"/>
                </a:solidFill>
                <a:latin typeface="Microsoft YaHei"/>
                <a:ea typeface="Microsoft YaHei"/>
              </a:rPr>
              <a:t>光源：提前借样验证</a:t>
            </a:r>
            <a:endParaRPr lang="zh-CN"/>
          </a:p>
        </p:txBody>
      </p:sp>
      <p:sp>
        <p:nvSpPr>
          <p:cNvPr id="67" name="Object 67"/>
          <p:cNvSpPr txBox="1"/>
          <p:nvPr/>
        </p:nvSpPr>
        <p:spPr>
          <a:xfrm>
            <a:off x="4343400" y="5684520"/>
            <a:ext cx="3733800" cy="2514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28000"/>
              </a:lnSpc>
              <a:spcAft>
                <a:spcPts val="0"/>
              </a:spcAft>
            </a:pPr>
            <a:r>
              <a:rPr lang="zh-CN" sz="1320" b="1">
                <a:solidFill>
                  <a:srgbClr val="2166A5"/>
                </a:solidFill>
                <a:latin typeface="Microsoft YaHei"/>
                <a:ea typeface="Microsoft YaHei"/>
              </a:rPr>
              <a:t>光学件：加工 / 镀膜 / 检测联合评审</a:t>
            </a:r>
            <a:endParaRPr lang="zh-CN"/>
          </a:p>
        </p:txBody>
      </p:sp>
      <p:sp>
        <p:nvSpPr>
          <p:cNvPr id="68" name="Object 68"/>
          <p:cNvSpPr txBox="1"/>
          <p:nvPr/>
        </p:nvSpPr>
        <p:spPr>
          <a:xfrm>
            <a:off x="8153400" y="5684520"/>
            <a:ext cx="3550920" cy="2514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28000"/>
              </a:lnSpc>
              <a:spcAft>
                <a:spcPts val="0"/>
              </a:spcAft>
            </a:pPr>
            <a:r>
              <a:rPr lang="zh-CN" sz="1320" b="1">
                <a:solidFill>
                  <a:srgbClr val="2166A5"/>
                </a:solidFill>
                <a:latin typeface="Microsoft YaHei"/>
                <a:ea typeface="Microsoft YaHei"/>
              </a:rPr>
              <a:t>光栅：关键样片 → 全尺寸首件</a:t>
            </a:r>
            <a:endParaRPr lang="zh-CN"/>
          </a:p>
        </p:txBody>
      </p:sp>
      <p:sp>
        <p:nvSpPr>
          <p:cNvPr id="69" name="Object 69"/>
          <p:cNvSpPr txBox="1"/>
          <p:nvPr/>
        </p:nvSpPr>
        <p:spPr>
          <a:xfrm>
            <a:off x="487680" y="6103620"/>
            <a:ext cx="11216640" cy="472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28000"/>
              </a:lnSpc>
              <a:spcAft>
                <a:spcPts val="0"/>
              </a:spcAft>
            </a:pPr>
            <a:r>
              <a:rPr lang="zh-CN" sz="1080" b="0">
                <a:solidFill>
                  <a:srgbClr val="586B7A"/>
                </a:solidFill>
                <a:latin typeface="Microsoft YaHei"/>
                <a:ea typeface="Microsoft YaHei"/>
              </a:rPr>
              <a:t>工程预筛：实际价格、交期、第二来源及量产能力，需通过询价（RFQ）、首件与供应商审核确认。</a:t>
            </a:r>
            <a:endParaRPr lang="zh-CN"/>
          </a:p>
          <a:p>
            <a:pPr>
              <a:lnSpc>
                <a:spcPct val="128000"/>
              </a:lnSpc>
              <a:spcAft>
                <a:spcPts val="0"/>
              </a:spcAft>
            </a:pPr>
            <a:r>
              <a:rPr lang="zh-CN" sz="1080" b="0">
                <a:solidFill>
                  <a:srgbClr val="586B7A"/>
                </a:solidFill>
                <a:latin typeface="Microsoft YaHei"/>
                <a:ea typeface="Microsoft YaHei"/>
              </a:rPr>
              <a:t>高亮度UV路线为高；氘灯系统为中。来源：component_risk_matrix.md；官方证据 [C01–C24]。</a:t>
            </a:r>
            <a:endParaRPr lang="zh-CN"/>
          </a:p>
        </p:txBody>
      </p:sp>
    </p:spTree>
  </p:cSld>
  <p:clrMapOvr>
    <a:masterClrMapping/>
  </p:clrMapOvr>
</p:sld>
</file>